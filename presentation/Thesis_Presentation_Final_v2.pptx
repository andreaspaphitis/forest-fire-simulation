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9144000" cy="1828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6809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Integrating High-Resolution LiDAR Data with</a:t>
            </a:r>
            <a:br/>
            <a:r>
              <a:t>Cellular Automata for Wildfire Spread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2855"/>
                </a:solidFill>
              </a:defRPr>
            </a:pPr>
            <a:r>
              <a:t>Development, Calibration, and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2855"/>
                </a:solidFill>
              </a:defRPr>
            </a:pPr>
            <a:r>
              <a:t>A Case Study of the 2023 Tenerife Wildfire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2855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2855"/>
                </a:solidFill>
              </a:defRPr>
            </a:pPr>
            <a:r>
              <a:t>Andreas Paphitis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2855"/>
                </a:solidFill>
              </a:defRPr>
            </a:pPr>
            <a:r>
              <a:t>University of Amsterdam, Graduate School of Life and Earth Sciences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2855"/>
                </a:solidFill>
              </a:defRPr>
            </a:pPr>
            <a:r>
              <a:t>October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2023 Tenerife Wildfire: Background &amp;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73152" cy="6126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548640" y="1234440"/>
            <a:ext cx="274320" cy="274320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188720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t>12,000 hectares burned across 12 municipalities</a:t>
            </a:r>
          </a:p>
        </p:txBody>
      </p:sp>
      <p:sp>
        <p:nvSpPr>
          <p:cNvPr id="7" name="Parallelogram 6"/>
          <p:cNvSpPr/>
          <p:nvPr/>
        </p:nvSpPr>
        <p:spPr>
          <a:xfrm>
            <a:off x="548640" y="1691640"/>
            <a:ext cx="274320" cy="274320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t>Most severe wildfire in Canary Islands in 40 years</a:t>
            </a:r>
          </a:p>
        </p:txBody>
      </p:sp>
      <p:sp>
        <p:nvSpPr>
          <p:cNvPr id="9" name="Parallelogram 8"/>
          <p:cNvSpPr/>
          <p:nvPr/>
        </p:nvSpPr>
        <p:spPr>
          <a:xfrm>
            <a:off x="548640" y="2148840"/>
            <a:ext cx="274320" cy="274320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t>Over 12,000 residents evacuated</a:t>
            </a:r>
          </a:p>
        </p:txBody>
      </p:sp>
      <p:sp>
        <p:nvSpPr>
          <p:cNvPr id="11" name="Parallelogram 10"/>
          <p:cNvSpPr/>
          <p:nvPr/>
        </p:nvSpPr>
        <p:spPr>
          <a:xfrm>
            <a:off x="548640" y="2606040"/>
            <a:ext cx="274320" cy="274320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60320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t>Classified as 'sixth-generation' wildfire</a:t>
            </a:r>
          </a:p>
        </p:txBody>
      </p:sp>
      <p:sp>
        <p:nvSpPr>
          <p:cNvPr id="13" name="Parallelogram 12"/>
          <p:cNvSpPr/>
          <p:nvPr/>
        </p:nvSpPr>
        <p:spPr>
          <a:xfrm>
            <a:off x="548640" y="3337560"/>
            <a:ext cx="274320" cy="274320"/>
          </a:xfrm>
          <a:prstGeom prst="parallelogram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291840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t>Traditional models failed to predict extreme behavior</a:t>
            </a:r>
          </a:p>
        </p:txBody>
      </p:sp>
      <p:sp>
        <p:nvSpPr>
          <p:cNvPr id="15" name="Parallelogram 14"/>
          <p:cNvSpPr/>
          <p:nvPr/>
        </p:nvSpPr>
        <p:spPr>
          <a:xfrm>
            <a:off x="548640" y="3794760"/>
            <a:ext cx="274320" cy="274320"/>
          </a:xfrm>
          <a:prstGeom prst="parallelogram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749040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t>Models overlook vertical fire dynamics &amp; ember transport</a:t>
            </a:r>
          </a:p>
        </p:txBody>
      </p:sp>
      <p:sp>
        <p:nvSpPr>
          <p:cNvPr id="17" name="Parallelogram 16"/>
          <p:cNvSpPr/>
          <p:nvPr/>
        </p:nvSpPr>
        <p:spPr>
          <a:xfrm>
            <a:off x="548640" y="4251960"/>
            <a:ext cx="274320" cy="274320"/>
          </a:xfrm>
          <a:prstGeom prst="parallelogram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206240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t>Operational tools underperformed in complex terrain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371600"/>
            <a:ext cx="2743200" cy="640080"/>
          </a:xfrm>
          <a:prstGeom prst="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146304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>
                <a:solidFill>
                  <a:srgbClr val="002855"/>
                </a:solidFill>
              </a:defRPr>
            </a:pPr>
            <a:r>
              <a:t>Event</a:t>
            </a:r>
            <a:br/>
            <a:r>
              <a:t>2023 Tenerife Fire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2286000"/>
            <a:ext cx="2743200" cy="640080"/>
          </a:xfrm>
          <a:prstGeom prst="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237744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>
                <a:solidFill>
                  <a:srgbClr val="002855"/>
                </a:solidFill>
              </a:defRPr>
            </a:pPr>
            <a:r>
              <a:t>Duration</a:t>
            </a:r>
            <a:br/>
            <a:r>
              <a:t>Aug 15-26, 2023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3200400"/>
            <a:ext cx="2743200" cy="640080"/>
          </a:xfrm>
          <a:prstGeom prst="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329184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>
                <a:solidFill>
                  <a:srgbClr val="002855"/>
                </a:solidFill>
              </a:defRPr>
            </a:pPr>
            <a:r>
              <a:t>Classification</a:t>
            </a:r>
            <a:br/>
            <a:r>
              <a:t>6th Generation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Research Objectives &amp;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6840" y="731520"/>
            <a:ext cx="137160" cy="6126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0000"/>
                </a:solidFill>
              </a:defRPr>
            </a:pPr>
            <a:r>
              <a:t>Objective 1: LiDAR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Integrate high-resolution LiDAR data into CA wildfire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3D fuel structure representation using Plant Area Density (PAD)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Research Question: How effectively can LiDAR PAD represent vertical fuel connectivity?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0000"/>
                </a:solidFill>
              </a:defRPr>
            </a:pPr>
            <a:r>
              <a:t>Objective 2: Multi-Dimensional Fire Spread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Develop framework with multiple fire spread mechanisms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Horizontal spread, vertical spread, and ember transport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0332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Research Question: How do spread modes contribute to fire behavior in complex terrain?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Study Area &amp; Methodology Overview</a:t>
            </a:r>
          </a:p>
        </p:txBody>
      </p:sp>
      <p:pic>
        <p:nvPicPr>
          <p:cNvPr id="4" name="Picture 3" descr="EMSR_Binary_Masks_4Panel_Acade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114800" cy="33537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4632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Location: Tenerife, Canary Islands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Key Features: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Complex terrain with barrancos (deep ravines)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Elevation: Sea level to 2,400m+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Canary Island Pine (Pinus canariensis) dominant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Prone to calima (Saharan dust) events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Fire Event: August 15-26, 2023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Start: Arafo municipality, ~1,000m elevation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Spread: Multi-directional across 12 municipalities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Validation periods: EMSR Days 1-4 (Aug 18, 21, 24, 26)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Methodology: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Data: 5m LiDAR, 5m DTM, EMSR fire perimeters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Model: 3D Cellular Automata (20m resolution)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Calibration: Two-stage framework (sensitivity + grid search)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Validation: Temporal split-sample approach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LiDAR Processing &amp; Model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6840" y="731520"/>
            <a:ext cx="137160" cy="6126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0000"/>
                </a:solidFill>
              </a:defRPr>
            </a:pPr>
            <a:r>
              <a:t>LiDAR Processing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Height normalization using PDAL HAG 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Normalized Relative Density (NRD) calculation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PAD derivation via Beer-Lambert law (κ=0.6)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20 vertical layers at 2m intervals (0-40m)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Resampling: 5m → 20m resolution (16× reduction)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0000"/>
                </a:solidFill>
              </a:defRPr>
            </a:pPr>
            <a:r>
              <a:t>3D CA Model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0332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Horizontal: Moore neighborhood, slope/wind multiplicative factors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Vertical: √(fuel_lower × fuel_upper) connectivity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Ember: Exponential distance decay, wind-biased direction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Terrain: Barranco wind channeling (2.5× amplification)</a:t>
            </a:r>
          </a:p>
        </p:txBody>
      </p:sp>
      <p:pic>
        <p:nvPicPr>
          <p:cNvPr id="16" name="Picture 15" descr="Figure_1_LiDAR_Pipeline_Focu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19709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Model Structure &amp; Computational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6840" y="731520"/>
            <a:ext cx="137160" cy="6126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0000"/>
                </a:solidFill>
              </a:defRPr>
            </a:pPr>
            <a:r>
              <a:t>Why Custom 3D CA Model?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1. LiDAR Integration: FARSITE/FlamMap/Prometheus use 2D fuel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   classifications, cannot utilize continuous 3D PAD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2. Computational Efficiency: Sparse storage + pre-computed terrain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   → 85% memory reduction, enables 100s of calibration runs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3. Region-Specific: Canary Island pine needs custom parameters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6324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   (not North American fuel models, accounts for calima events)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5760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0000"/>
                </a:solidFill>
              </a:defRPr>
            </a:pPr>
            <a:r>
              <a:t>Key Optimizations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Sparse matrix storage: 85% memory reduction vs dense arrays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Pre-computed terrain: Barranco detection, wind channeling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Resolution: 5m → 20m (16× reduction, preserves patterns)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834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Memory-mapped loading: &lt;2s init vs 30+ s runtime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Grid: 609×609×20 layers (24.4M cells) efficiently managed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Fire Spread Mechanisms</a:t>
            </a:r>
          </a:p>
        </p:txBody>
      </p:sp>
      <p:pic>
        <p:nvPicPr>
          <p:cNvPr id="4" name="Picture 3" descr="Figure_Fire_Spread_Mode_Pie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114800" cy="21446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4632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Three Fire Spread Mechanisms: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Horizontal Spread (Surface Fire):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8-neighbor Moore connectivity (N, NE, E, SE, S, SW, W, NW)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Slope multiplicative factor: exp(0.1·slope_degrees)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Wind multiplier: Higher in wind direction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Barranco channeling: 2.5× amplification in ravines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Vertical Spread (Crown Fire):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Layer-to-layer geometric mean: √(PAD_lower × PAD_upper)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20 vertical layers at 2m intervals (0-40m)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Fuel continuity drives vertical propagation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Ember Transport (Spotting):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Exponential distance decay: exp(-dist/param)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Wind-biased direction kernel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Stochastic ignition probability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Critical for long-distance spread across discontinuities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Calibration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Two-Stage Calibration Framework: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Stage 1: Sensitivity Analysis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Range-based analysis: 9 points × 16 parameters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Objective: Modified Dice coefficient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Result: Identified top 4 critical parameters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Stage 2: Grid Search Optimization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Focused search: 3 points × 4 parameters = 81 combinations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Calibration target: EMSR Days 1-2 (Aug 18-21)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Validation target: EMSR Days 3-4 (Aug 24-26)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Computational Efficiency: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Reduced from 3¹⁶ ≈ 43 million to 81 simulations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6 orders of magnitude reduction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Execution time: ~53 minutes per simulation</a:t>
            </a:r>
          </a:p>
        </p:txBody>
      </p:sp>
      <p:pic>
        <p:nvPicPr>
          <p:cNvPr id="5" name="Picture 4" descr="Figure_Calibration_Prior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3931920" cy="31340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Sensitivity Analysis Results</a:t>
            </a:r>
          </a:p>
        </p:txBody>
      </p:sp>
      <p:sp>
        <p:nvSpPr>
          <p:cNvPr id="4" name="Parallelogram 3"/>
          <p:cNvSpPr/>
          <p:nvPr/>
        </p:nvSpPr>
        <p:spPr>
          <a:xfrm>
            <a:off x="5943600" y="109728"/>
            <a:ext cx="594360" cy="594360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228600"/>
            <a:ext cx="5943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1.406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41148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Top Param</a:t>
            </a:r>
          </a:p>
        </p:txBody>
      </p:sp>
      <p:sp>
        <p:nvSpPr>
          <p:cNvPr id="7" name="Parallelogram 6"/>
          <p:cNvSpPr/>
          <p:nvPr/>
        </p:nvSpPr>
        <p:spPr>
          <a:xfrm>
            <a:off x="6858000" y="109728"/>
            <a:ext cx="594360" cy="594360"/>
          </a:xfrm>
          <a:prstGeom prst="parallelogram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28600"/>
            <a:ext cx="5943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0.161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41148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2nd Param</a:t>
            </a:r>
          </a:p>
        </p:txBody>
      </p:sp>
      <p:sp>
        <p:nvSpPr>
          <p:cNvPr id="10" name="Parallelogram 9"/>
          <p:cNvSpPr/>
          <p:nvPr/>
        </p:nvSpPr>
        <p:spPr>
          <a:xfrm>
            <a:off x="7772400" y="109728"/>
            <a:ext cx="594360" cy="594360"/>
          </a:xfrm>
          <a:prstGeom prst="parallelogram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28600"/>
            <a:ext cx="5943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0.172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1148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Ember Sum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18872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Parameter Sensitivity Hierarchy: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Top 5 Most Sensitive Parameters: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1. spread_probability: 1.406 (8.7× more sensitive)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2. fuel_consumption_rate: 0.161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3. ember_probability: 0.116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4. ember_ignition: 0.056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5. fuel_moisture_baseline: 0.038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Key Insights: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spread_probability dominates fire behavior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Ember system parameters collectively significant (0.172)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Clear hierarchy enables focused calibration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Terrain and fuel parameters show secondary importance</a:t>
            </a:r>
          </a:p>
        </p:txBody>
      </p:sp>
      <p:pic>
        <p:nvPicPr>
          <p:cNvPr id="14" name="Picture 13" descr="Figure_Sensitivity_Parameter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3931920" cy="22529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Validation Results</a:t>
            </a:r>
          </a:p>
        </p:txBody>
      </p:sp>
      <p:sp>
        <p:nvSpPr>
          <p:cNvPr id="4" name="Parallelogram 3"/>
          <p:cNvSpPr/>
          <p:nvPr/>
        </p:nvSpPr>
        <p:spPr>
          <a:xfrm>
            <a:off x="5943600" y="109728"/>
            <a:ext cx="594360" cy="594360"/>
          </a:xfrm>
          <a:prstGeom prst="parallelogram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228600"/>
            <a:ext cx="5943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0.690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41148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Day 3</a:t>
            </a:r>
          </a:p>
        </p:txBody>
      </p:sp>
      <p:sp>
        <p:nvSpPr>
          <p:cNvPr id="7" name="Parallelogram 6"/>
          <p:cNvSpPr/>
          <p:nvPr/>
        </p:nvSpPr>
        <p:spPr>
          <a:xfrm>
            <a:off x="6858000" y="109728"/>
            <a:ext cx="594360" cy="594360"/>
          </a:xfrm>
          <a:prstGeom prst="parallelogram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28600"/>
            <a:ext cx="5943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0.486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41148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Day 4</a:t>
            </a:r>
          </a:p>
        </p:txBody>
      </p:sp>
      <p:sp>
        <p:nvSpPr>
          <p:cNvPr id="10" name="Parallelogram 9"/>
          <p:cNvSpPr/>
          <p:nvPr/>
        </p:nvSpPr>
        <p:spPr>
          <a:xfrm>
            <a:off x="7772400" y="109728"/>
            <a:ext cx="594360" cy="594360"/>
          </a:xfrm>
          <a:prstGeom prst="parallelogram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28600"/>
            <a:ext cx="5943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-29.6%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1148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18872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Spatial Performance (Rank 2 Parameters):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Calibration Period: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Days 1-2: Objective function optimized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Validation Period: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Day 3: Objective = 0.690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Day 4: Objective = 0.486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Improvement: 29.6% (Day 3 → Day 4)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Parameter Selection Rationale: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Rank 1: Error 0.513, spread_prob = 0.95 (unrealistic)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Rank 2: Error 0.536, spread_prob = 0.775 (selected)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Trade-off: Slightly higher error for physical realism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Execution Time: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~53 minutes per simulation (20m resolution)</a:t>
            </a:r>
          </a:p>
        </p:txBody>
      </p:sp>
      <p:pic>
        <p:nvPicPr>
          <p:cNvPr id="14" name="Picture 13" descr="Figure_19_CORRECTED_Spatial_Validation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3931920" cy="169724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Key Findings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26280" y="914400"/>
            <a:ext cx="38100" cy="56692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7D32"/>
                </a:solidFill>
              </a:defRPr>
            </a:pPr>
            <a:r>
              <a:t>✓ Achievements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731520" y="1645920"/>
            <a:ext cx="320040" cy="320040"/>
          </a:xfrm>
          <a:prstGeom prst="parallelogram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Successful LiDAR PAD integration for 3D fuel structure</a:t>
            </a:r>
          </a:p>
        </p:txBody>
      </p:sp>
      <p:sp>
        <p:nvSpPr>
          <p:cNvPr id="8" name="Parallelogram 7"/>
          <p:cNvSpPr/>
          <p:nvPr/>
        </p:nvSpPr>
        <p:spPr>
          <a:xfrm>
            <a:off x="731520" y="2194560"/>
            <a:ext cx="320040" cy="320040"/>
          </a:xfrm>
          <a:prstGeom prst="parallelogram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Systematic calibration framework (43M → 81 simulations)</a:t>
            </a:r>
          </a:p>
        </p:txBody>
      </p:sp>
      <p:sp>
        <p:nvSpPr>
          <p:cNvPr id="10" name="Parallelogram 9"/>
          <p:cNvSpPr/>
          <p:nvPr/>
        </p:nvSpPr>
        <p:spPr>
          <a:xfrm>
            <a:off x="731520" y="2743200"/>
            <a:ext cx="320040" cy="320040"/>
          </a:xfrm>
          <a:prstGeom prst="parallelogram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743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Horizontal spread: 23.7% contribution, 83% efficiency</a:t>
            </a:r>
          </a:p>
        </p:txBody>
      </p:sp>
      <p:sp>
        <p:nvSpPr>
          <p:cNvPr id="12" name="Parallelogram 11"/>
          <p:cNvSpPr/>
          <p:nvPr/>
        </p:nvSpPr>
        <p:spPr>
          <a:xfrm>
            <a:off x="731520" y="3291840"/>
            <a:ext cx="320040" cy="320040"/>
          </a:xfrm>
          <a:prstGeom prst="parallelogram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291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Identified critical parameters via sensitivity analysis</a:t>
            </a:r>
          </a:p>
        </p:txBody>
      </p:sp>
      <p:sp>
        <p:nvSpPr>
          <p:cNvPr id="14" name="Parallelogram 13"/>
          <p:cNvSpPr/>
          <p:nvPr/>
        </p:nvSpPr>
        <p:spPr>
          <a:xfrm>
            <a:off x="731520" y="3840480"/>
            <a:ext cx="320040" cy="320040"/>
          </a:xfrm>
          <a:prstGeom prst="parallelogram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840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Framework demonstrates feasibility of 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097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9800"/>
                </a:solidFill>
              </a:defRPr>
            </a:pPr>
            <a:r>
              <a:t>⚠ Challenges</a:t>
            </a:r>
          </a:p>
        </p:txBody>
      </p:sp>
      <p:sp>
        <p:nvSpPr>
          <p:cNvPr id="17" name="Parallelogram 16"/>
          <p:cNvSpPr/>
          <p:nvPr/>
        </p:nvSpPr>
        <p:spPr>
          <a:xfrm>
            <a:off x="4937760" y="1645920"/>
            <a:ext cx="320040" cy="320040"/>
          </a:xfrm>
          <a:prstGeom prst="parallelogram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16459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Vertical spread: Only 3.8% (expected 30-50%)</a:t>
            </a:r>
          </a:p>
        </p:txBody>
      </p:sp>
      <p:sp>
        <p:nvSpPr>
          <p:cNvPr id="19" name="Parallelogram 18"/>
          <p:cNvSpPr/>
          <p:nvPr/>
        </p:nvSpPr>
        <p:spPr>
          <a:xfrm>
            <a:off x="4937760" y="2194560"/>
            <a:ext cx="320040" cy="320040"/>
          </a:xfrm>
          <a:prstGeom prst="parallelogram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2194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Ember spread: 43.0% (expected 10-20%)</a:t>
            </a:r>
          </a:p>
        </p:txBody>
      </p:sp>
      <p:sp>
        <p:nvSpPr>
          <p:cNvPr id="21" name="Parallelogram 20"/>
          <p:cNvSpPr/>
          <p:nvPr/>
        </p:nvSpPr>
        <p:spPr>
          <a:xfrm>
            <a:off x="4937760" y="2743200"/>
            <a:ext cx="320040" cy="320040"/>
          </a:xfrm>
          <a:prstGeom prst="parallelogram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0" y="2743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Ember efficiency: 150.7% indicates overfitting</a:t>
            </a:r>
          </a:p>
        </p:txBody>
      </p:sp>
      <p:sp>
        <p:nvSpPr>
          <p:cNvPr id="23" name="Parallelogram 22"/>
          <p:cNvSpPr/>
          <p:nvPr/>
        </p:nvSpPr>
        <p:spPr>
          <a:xfrm>
            <a:off x="4937760" y="3291840"/>
            <a:ext cx="320040" cy="320040"/>
          </a:xfrm>
          <a:prstGeom prst="parallelogram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0" y="32918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Compensating errors rather than physical accuracy</a:t>
            </a:r>
          </a:p>
        </p:txBody>
      </p:sp>
      <p:sp>
        <p:nvSpPr>
          <p:cNvPr id="25" name="Parallelogram 24"/>
          <p:cNvSpPr/>
          <p:nvPr/>
        </p:nvSpPr>
        <p:spPr>
          <a:xfrm>
            <a:off x="4937760" y="3840480"/>
            <a:ext cx="320040" cy="320040"/>
          </a:xfrm>
          <a:prstGeom prst="parallelogram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3840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Need multi-objective calibration + fuel constraints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Conclusions &amp; Future Directions</a:t>
            </a:r>
          </a:p>
        </p:txBody>
      </p:sp>
      <p:sp>
        <p:nvSpPr>
          <p:cNvPr id="4" name="Parallelogram 3"/>
          <p:cNvSpPr/>
          <p:nvPr/>
        </p:nvSpPr>
        <p:spPr>
          <a:xfrm>
            <a:off x="640080" y="1188720"/>
            <a:ext cx="457200" cy="457200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2855"/>
                </a:solidFill>
              </a:defRPr>
            </a:pPr>
            <a:r>
              <a:t>Research Questions Addressed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0020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Q1: LiDAR PAD successfully represents vertical fuel connectivity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92808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     → Framework operational, requires parameter refinement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185416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Q2: Spread modes quantified (H:23.7%, V:3.8%, E:43.0%)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478024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     → Reveals need for improved suppression mechanisms</a:t>
            </a:r>
          </a:p>
        </p:txBody>
      </p:sp>
      <p:sp>
        <p:nvSpPr>
          <p:cNvPr id="11" name="Parallelogram 10"/>
          <p:cNvSpPr/>
          <p:nvPr/>
        </p:nvSpPr>
        <p:spPr>
          <a:xfrm>
            <a:off x="640080" y="3136392"/>
            <a:ext cx="457200" cy="457200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36392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36392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2855"/>
                </a:solidFill>
              </a:defRPr>
            </a:pPr>
            <a:r>
              <a:t>Main Contributions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547872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First 3D CA wildfire model with continuous LiDAR PAD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404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Systematic two-stage calibration framework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33088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Honest validation revealing overfitting challenges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425696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Quantitative analysis of fire spread mode contributions</a:t>
            </a:r>
          </a:p>
        </p:txBody>
      </p:sp>
      <p:sp>
        <p:nvSpPr>
          <p:cNvPr id="18" name="Parallelogram 17"/>
          <p:cNvSpPr/>
          <p:nvPr/>
        </p:nvSpPr>
        <p:spPr>
          <a:xfrm>
            <a:off x="640080" y="5084064"/>
            <a:ext cx="457200" cy="457200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084064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84064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2855"/>
                </a:solidFill>
              </a:defRPr>
            </a:pPr>
            <a:r>
              <a:t>Future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495544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Multi-objective calibration (spatial + mechanistic constraints)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788152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Fire suppression mechanisms and fuel consumption limits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608076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Validation against additional fire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6373368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Integration with weather forecasting systems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Acknowledgments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2855"/>
                </a:solidFill>
              </a:defRPr>
            </a:pPr>
            <a:r>
              <a:t>Supervisor: dr. A.C. Seijmonsbergen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0116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2855"/>
                </a:solidFill>
              </a:defRPr>
            </a:pPr>
            <a:r>
              <a:t>Assessor: dr. Yifang 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2855"/>
                </a:solidFill>
              </a:defRPr>
            </a:pPr>
            <a:r>
              <a:t>Data 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7432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• PNOA-IGN (LiDAR point cloud data)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1089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• Copernicus EMSR (Fire perimeter delineations)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4747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• IGN Spain (Digital Terrain Models)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8404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University of Amsterdam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206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Graduate School of Life and Earth Sciences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5720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Institute for Biodiversity and Ecosystem Dynamics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 b="1">
                <a:solidFill>
                  <a:srgbClr val="002855"/>
                </a:solidFill>
              </a:defRPr>
            </a:pPr>
            <a:r>
              <a:t>Thank You</a:t>
            </a:r>
            <a:br/>
            <a: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Repository: github.com/AndreasPaphitis/Forest-Fire-Simulation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Contact: andreas.paphitis@student.uva.nl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