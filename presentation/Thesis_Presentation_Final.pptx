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2855"/>
                </a:solidFill>
              </a:defRPr>
            </a:pPr>
            <a:r>
              <a:t>Integrating High-Resolution LiDAR Data with</a:t>
            </a:r>
            <a:br/>
            <a:r>
              <a:t>Cellular Automata for Wildfire Spread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Development, Calibration,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A Case Study of the 2023 Tenerife Wildfire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Andreas Paphitis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University of Amsterdam, Graduate School of Life and Earth 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October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7772400" y="-457200"/>
            <a:ext cx="1828800" cy="18288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7132320" y="274320"/>
            <a:ext cx="914400" cy="914400"/>
          </a:xfrm>
          <a:prstGeom prst="parallelogram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2023 Tenerife Wildfire: Background &amp;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548640" y="123444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887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12,000 hectares burned across 12 municipalities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548640" y="169164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Most severe wildfire in Canary Islands in 40 years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548640" y="214884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Over 12,000 residents evacuated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548640" y="2606040"/>
            <a:ext cx="274320" cy="27432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603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Classified as 'sixth-generation' wildfire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548640" y="3063240"/>
            <a:ext cx="274320" cy="27432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</a:p>
        </p:txBody>
      </p:sp>
      <p:sp>
        <p:nvSpPr>
          <p:cNvPr id="15" name="Parallelogram 14"/>
          <p:cNvSpPr/>
          <p:nvPr/>
        </p:nvSpPr>
        <p:spPr>
          <a:xfrm>
            <a:off x="548640" y="3520440"/>
            <a:ext cx="274320" cy="27432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747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Traditional models failed to predict extreme behavior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548640" y="3977640"/>
            <a:ext cx="274320" cy="27432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Models overlook vertical fire dynamics &amp; ember transport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548640" y="4434840"/>
            <a:ext cx="274320" cy="27432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891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Operational tools underperformed in complex terrain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371600"/>
            <a:ext cx="27432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46304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>
                <a:solidFill>
                  <a:srgbClr val="002855"/>
                </a:solidFill>
              </a:defRPr>
            </a:pPr>
            <a:r>
              <a:t>Event</a:t>
            </a:r>
            <a:br/>
            <a:r>
              <a:t>2023 Tenerife Fire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286000"/>
            <a:ext cx="27432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37744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>
                <a:solidFill>
                  <a:srgbClr val="002855"/>
                </a:solidFill>
              </a:defRPr>
            </a:pPr>
            <a:r>
              <a:t>Duration</a:t>
            </a:r>
            <a:br/>
            <a:r>
              <a:t>Aug 15-26, 2023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200400"/>
            <a:ext cx="2743200" cy="640080"/>
          </a:xfrm>
          <a:prstGeom prst="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29184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>
                <a:solidFill>
                  <a:srgbClr val="002855"/>
                </a:solidFill>
              </a:defRPr>
            </a:pPr>
            <a:r>
              <a:t>Classification</a:t>
            </a:r>
            <a:br/>
            <a:r>
              <a:t>6th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Research Objectives &amp;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6840" y="731520"/>
            <a:ext cx="137160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Objective 1: LiDAR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Integrate high-resolution LiDAR data into CA wildfire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3D fuel structure representation using Plant Area Density (PAD)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Research Question: How effectively can LiDAR PAD represent vertical fuel connectivity?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Objective 2: Multi-Dimensional Fire Spread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Develop framework with multiple fire spread mechanisms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Horizontal spread, vertical spread, and ember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Research Question: How do spread modes contribute to fire behavior in complex terrain?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19100" y="1150620"/>
            <a:ext cx="4191000" cy="342990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Study Area &amp; Methodology Overview</a:t>
            </a:r>
          </a:p>
        </p:txBody>
      </p:sp>
      <p:pic>
        <p:nvPicPr>
          <p:cNvPr id="4" name="Picture 3" descr="EMSR_Binary_Masks_4Panel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33537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Location: Tenerife, Canary Islands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Key Features: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Complex terrain with barrancos (deep ravines)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Elevation: Sea level to 2,400m+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Canary Island Pine (Pinus canariensis) dominant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Prone to calima (Saharan dust) events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Fire Event: August 15-26, 2023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Start: Arafo municipality, ~1,000m elevation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Spread: Multi-directional across 12 municipalities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Validation periods: EMSR Days 1-4 (Aug 18, 21, 24, 26)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Methodology: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Data: 5m LiDAR, 5m DTM, EMSR fire perimeters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Model: 3D Cellular Automata (20m resolution)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Calibration: Two-stage framework (sensitivity + grid search)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Validation: Temporal split-sample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5265420" y="1333500"/>
            <a:ext cx="3550920" cy="20471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LiDAR Processing &amp;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6840" y="731520"/>
            <a:ext cx="137160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LiDAR 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Height normalization using PDAL HAG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Normalized Relative Density (NRD)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PAD derivation via Beer-Lambert law (κ=0.6)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20 vertical layers at 2m intervals (0-40m)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Resampling: 5m → 20m resolution (16× reduction)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3D CA Model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Horizontal: Moore neighborhood, slope/wind multiplicative 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Vertical: √(fuel_lower × fuel_upper) 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Ember: Exponential distance decay, wind-biased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Terrain: Barranco wind channeling (2.5× amplification)</a:t>
            </a:r>
          </a:p>
        </p:txBody>
      </p:sp>
      <p:pic>
        <p:nvPicPr>
          <p:cNvPr id="16" name="Picture 15" descr="Figure_1_LiDAR_Pipeline_Foc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1970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Model Structure &amp; Computational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6840" y="731520"/>
            <a:ext cx="137160" cy="6126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Why Custom 3D CA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1. LiDAR Integration: FARSITE/FlamMap/Prometheus use 2D fuel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classifications, cannot utilize continuous 3D PAD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2. Computational Efficiency: Sparse storage + pre-computed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→ 85% memory reduction, enables 100s of calibration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3. Region-Specific: Canary Island pine needs custom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(not North American fuel models, accounts for calima events)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Key Optimizations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Sparse matrix storage: 85% memory reduction vs dense 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Pre-computed terrain: Barranco detection, wind channeling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Resolution: 5m → 20m (16× reduction, preserves patterns)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Memory-mapped loading: &lt;2s init vs 30+ s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Grid: 609×609×20 layers (24.4M cells) efficiently managed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716780" y="1150620"/>
            <a:ext cx="4008120" cy="3210264"/>
          </a:xfrm>
          <a:prstGeom prst="rect">
            <a:avLst/>
          </a:prstGeom>
          <a:noFill/>
          <a:ln w="381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Calibration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Two-Stage Calibration Framework:</a:t>
            </a:r>
          </a:p>
          <a:p>
            <a:pPr>
              <a:spcBef>
                <a:spcPts val="400"/>
              </a:spcBef>
              <a:defRPr sz="1800" b="0">
                <a:solidFill>
                  <a:srgbClr val="646464"/>
                </a:solidFill>
              </a:defRPr>
            </a:pPr>
            <a:r>
              <a:t>Stage 1: Sensitivity Analysis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Range-based analysis: 9 points × 16 parameters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Objective: Modified Dice coefficient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Result: Identified top 4 critical parameters</a:t>
            </a:r>
          </a:p>
          <a:p>
            <a:pPr>
              <a:spcBef>
                <a:spcPts val="400"/>
              </a:spcBef>
              <a:defRPr sz="1800" b="0">
                <a:solidFill>
                  <a:srgbClr val="646464"/>
                </a:solidFill>
              </a:defRPr>
            </a:pPr>
            <a:r>
              <a:t>Stage 2: Grid Search Optimization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Focused search: 3 points × 4 parameters = 81 combinations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Calibration target: EMSR Days 1-2 (Aug 18-21)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Validation target: EMSR Days 3-4 (Aug 24-26)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Computational Efficiency: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Reduced from 3¹⁶ ≈ 43 million to 81 simulations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6 orders of magnitude reduction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Execution time: ~53 minutes per simulation</a:t>
            </a:r>
          </a:p>
        </p:txBody>
      </p:sp>
      <p:pic>
        <p:nvPicPr>
          <p:cNvPr id="5" name="Picture 4" descr="Figure_Calibration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31340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4716780" y="1150620"/>
            <a:ext cx="4008120" cy="2329144"/>
          </a:xfrm>
          <a:prstGeom prst="rect">
            <a:avLst/>
          </a:prstGeom>
          <a:noFill/>
          <a:ln w="381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Sensitivity Analysis Results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5943600" y="109728"/>
            <a:ext cx="594360" cy="59436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25831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1.406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36626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Top Param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6858000" y="109728"/>
            <a:ext cx="594360" cy="594360"/>
          </a:xfrm>
          <a:prstGeom prst="parallelogram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5831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0.161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36626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2nd Param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7772400" y="109728"/>
            <a:ext cx="594360" cy="594360"/>
          </a:xfrm>
          <a:prstGeom prst="parallelogram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5831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36626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Ember 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Parameter Sensitivity Hierarchy:</a:t>
            </a:r>
          </a:p>
          <a:p>
            <a:pPr>
              <a:spcBef>
                <a:spcPts val="400"/>
              </a:spcBef>
              <a:defRPr sz="1800" b="0">
                <a:solidFill>
                  <a:srgbClr val="646464"/>
                </a:solidFill>
              </a:defRPr>
            </a:pPr>
            <a:r>
              <a:t>Top 5 Most Sensitive Parameters:</a:t>
            </a:r>
          </a:p>
          <a:p>
            <a:pPr>
              <a:spcBef>
                <a:spcPts val="400"/>
              </a:spcBef>
              <a:defRPr sz="1800" b="0">
                <a:solidFill>
                  <a:srgbClr val="646464"/>
                </a:solidFill>
              </a:defRPr>
            </a:pPr>
            <a:r>
              <a:t>1. spread_probability: 1.406 (8.7× more sensitive)</a:t>
            </a:r>
          </a:p>
          <a:p>
            <a:pPr>
              <a:spcBef>
                <a:spcPts val="400"/>
              </a:spcBef>
              <a:defRPr sz="1800" b="0">
                <a:solidFill>
                  <a:srgbClr val="646464"/>
                </a:solidFill>
              </a:defRPr>
            </a:pPr>
            <a:r>
              <a:t>2. fuel_consumption_rate: 0.161</a:t>
            </a:r>
          </a:p>
          <a:p>
            <a:pPr>
              <a:spcBef>
                <a:spcPts val="400"/>
              </a:spcBef>
              <a:defRPr sz="1800" b="0">
                <a:solidFill>
                  <a:srgbClr val="646464"/>
                </a:solidFill>
              </a:defRPr>
            </a:pPr>
            <a:r>
              <a:t>3. ember_probability: 0.116</a:t>
            </a:r>
          </a:p>
          <a:p>
            <a:pPr>
              <a:spcBef>
                <a:spcPts val="400"/>
              </a:spcBef>
              <a:defRPr sz="1800" b="0">
                <a:solidFill>
                  <a:srgbClr val="646464"/>
                </a:solidFill>
              </a:defRPr>
            </a:pPr>
            <a:r>
              <a:t>4. ember_ignition: 0.056</a:t>
            </a:r>
          </a:p>
          <a:p>
            <a:pPr>
              <a:spcBef>
                <a:spcPts val="400"/>
              </a:spcBef>
              <a:defRPr sz="1800" b="0">
                <a:solidFill>
                  <a:srgbClr val="646464"/>
                </a:solidFill>
              </a:defRPr>
            </a:pPr>
            <a:r>
              <a:t>5. fuel_moisture_baseline: 0.038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Key Insights: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spread_probability dominates fire behavior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Ember system parameters collectively significant (0.172)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Clear hierarchy enables focused calibration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Terrain and fuel parameters show secondary importance</a:t>
            </a:r>
          </a:p>
        </p:txBody>
      </p:sp>
      <p:pic>
        <p:nvPicPr>
          <p:cNvPr id="14" name="Picture 13" descr="Figure_Sensitivity_Parameter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252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4716780" y="1150620"/>
            <a:ext cx="4008120" cy="1773442"/>
          </a:xfrm>
          <a:prstGeom prst="rect">
            <a:avLst/>
          </a:prstGeom>
          <a:noFill/>
          <a:ln w="381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Validation Results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5943600" y="109728"/>
            <a:ext cx="594360" cy="59436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25831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0.690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36626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Day 3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6858000" y="109728"/>
            <a:ext cx="594360" cy="59436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5831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0.486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36626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Day 4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7772400" y="109728"/>
            <a:ext cx="594360" cy="594360"/>
          </a:xfrm>
          <a:prstGeom prst="parallelogram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58318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-29.6%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36626"/>
            <a:ext cx="594360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8872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 b="0">
                <a:solidFill>
                  <a:srgbClr val="646464"/>
                </a:solidFill>
              </a:defRPr>
            </a:pPr>
            <a:r>
              <a:t>Spatial Performance (Rank 2 Parameters):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Calibration Period: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Days 1-2: Objective function optimized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Validation Period: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Day 3: Objective = 0.690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Day 4: Objective = 0.486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Improvement: 29.6% (Day 3 → Day 4)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Parameter Selection Rationale: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Rank 1: Error 0.513, spread_prob = 0.95 (unrealistic)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Rank 2: Error 0.536, spread_prob = 0.775 (selected)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Trade-off: Slightly higher error for physical realism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Execution Time:</a:t>
            </a:r>
          </a:p>
          <a:p>
            <a:pPr>
              <a:spcBef>
                <a:spcPts val="400"/>
              </a:spcBef>
              <a:defRPr sz="1800" b="1">
                <a:solidFill>
                  <a:srgbClr val="646464"/>
                </a:solidFill>
              </a:defRPr>
            </a:pPr>
            <a:r>
              <a:t>• ~53 minutes per simulation (20m resolution)</a:t>
            </a:r>
          </a:p>
        </p:txBody>
      </p:sp>
      <p:pic>
        <p:nvPicPr>
          <p:cNvPr id="14" name="Picture 13" descr="Figure_19_CORRECTED_Spatial_Valid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16972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Findings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26280" y="914400"/>
            <a:ext cx="38100" cy="5669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✓ Achievements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731520" y="164592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Successful LiDAR PAD integration for 3D fuel structure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731520" y="219456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Systematic calibration framework (43M → 81 simulations)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731520" y="274320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Horizontal spread: 23.7% contribution, 83% efficiency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731520" y="329184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Identified critical parameters via sensitivity analysis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731520" y="3840480"/>
            <a:ext cx="320040" cy="320040"/>
          </a:xfrm>
          <a:prstGeom prst="parallelogram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Framework demonstrates feasibility of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800"/>
                </a:solidFill>
              </a:defRPr>
            </a:pPr>
            <a:r>
              <a:t>⚠ Challenges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4937760" y="164592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Vertical spread: Only 3.8% (expected 30-50%)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937760" y="219456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Ember spread: 43.0% (expected 10-20%)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4937760" y="274320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Ember efficiency: 150.7% indicates overfitting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4937760" y="329184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3291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Compensating errors rather than physical accuracy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4937760" y="3840480"/>
            <a:ext cx="320040" cy="320040"/>
          </a:xfrm>
          <a:prstGeom prst="parallelogram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840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Need multi-objective calibration + fuel constraints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640080" y="1188720"/>
            <a:ext cx="457200" cy="4572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Research Questions Addressed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Q1: LiDAR PAD successfully represents vertical fuel connectivity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9280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  → Framework operational, requires parameter refinement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8541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Q2: Spread modes quantified (H:23.7%, V:3.8%, E:43.0%)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7802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  → Reveals need for improved suppression mechanisms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640080" y="3136392"/>
            <a:ext cx="457200" cy="4572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3639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Main 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4787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First 3D CA wildfire model with continuous LiDAR PAD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Systematic two-stage calibration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3308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Honest validation revealing overfitting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2569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Quantitative analysis of fire spread mode contributions</a:t>
            </a:r>
          </a:p>
        </p:txBody>
      </p:sp>
      <p:sp>
        <p:nvSpPr>
          <p:cNvPr id="18" name="Parallelogram 17"/>
          <p:cNvSpPr/>
          <p:nvPr/>
        </p:nvSpPr>
        <p:spPr>
          <a:xfrm>
            <a:off x="640080" y="5084064"/>
            <a:ext cx="457200" cy="4572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8406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8406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Future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9554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Multi-objective calibration (spatial + mechanistic constraints)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78815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Fire suppression mechanisms and fuel consumption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0807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Validation against additional fire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637336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Integration with weather forecasting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Supervisor: dr. A.C. Seijmonsbergen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Assessor: dr. Yifang 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Data 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PNOA-IGN (LiDAR point cloud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Copernicus EMSR (Fire perimeter delineations)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IGN Spain (Digital Terrain Models)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University of Amsterdam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Graduate School of Life and Earth Sciences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Institute for Biodiversity and Ecosystem Dynamics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002855"/>
                </a:solidFill>
              </a:defRPr>
            </a:pPr>
            <a:r>
              <a:t>Thank You</a:t>
            </a:r>
            <a:br/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Repository: github.com/AndreasPaphitis/Forest-Fire-Simulation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Contact: andreas.paphitis@student.uva.nl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7772400" y="-457200"/>
            <a:ext cx="1828800" cy="1828800"/>
          </a:xfrm>
          <a:prstGeom prst="parallelogram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7132320" y="274320"/>
            <a:ext cx="914400" cy="914400"/>
          </a:xfrm>
          <a:prstGeom prst="parallelogram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00000">
            <a:off x="-274320" y="6217920"/>
            <a:ext cx="1371600" cy="1371600"/>
          </a:xfrm>
          <a:prstGeom prst="rect">
            <a:avLst/>
          </a:prstGeom>
          <a:solidFill>
            <a:srgbClr val="14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