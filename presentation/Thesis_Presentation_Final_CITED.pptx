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2796" y="8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43000"/>
            <a:ext cx="9144000" cy="2327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62671"/>
            <a:ext cx="7680960" cy="18466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 dirty="0"/>
              <a:t>Integrating LiDAR Data with</a:t>
            </a:r>
            <a:br>
              <a:rPr dirty="0"/>
            </a:br>
            <a:r>
              <a:rPr dirty="0"/>
              <a:t>Cellular Automata for Wildfire Spread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2855"/>
                </a:solidFill>
              </a:defRPr>
            </a:pPr>
            <a:r>
              <a:t>Development, Calibration,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2855"/>
                </a:solidFill>
              </a:defRPr>
            </a:pPr>
            <a:r>
              <a:t>A Case Study of the 2023 Tenerife Wildfire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2855"/>
                </a:solidFill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2855"/>
                </a:solidFill>
              </a:defRPr>
            </a:pPr>
            <a:r>
              <a:t>Andreas Paphitis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2855"/>
                </a:solidFill>
              </a:defRPr>
            </a:pPr>
            <a:r>
              <a:t>University of Amsterdam, Graduate School of Life and Earth Sciences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4685" y="5257800"/>
            <a:ext cx="16946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2855"/>
                </a:solidFill>
              </a:defRPr>
            </a:pPr>
            <a:r>
              <a:rPr lang="en-US" dirty="0"/>
              <a:t>Novembe</a:t>
            </a:r>
            <a:r>
              <a:rPr dirty="0"/>
              <a:t>r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2023 Tenerife Wildfire: Background &amp;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6126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502920" y="1234440"/>
            <a:ext cx="274320" cy="27432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60120" y="1154817"/>
            <a:ext cx="4617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rPr lang="en-US" dirty="0"/>
              <a:t>~ </a:t>
            </a:r>
            <a:r>
              <a:rPr dirty="0"/>
              <a:t>12,000 hectares burned across 12</a:t>
            </a:r>
            <a:r>
              <a:rPr lang="en-US" dirty="0"/>
              <a:t> </a:t>
            </a:r>
            <a:r>
              <a:rPr dirty="0"/>
              <a:t>municipalities 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484632" y="1975104"/>
            <a:ext cx="274320" cy="27432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617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rPr dirty="0"/>
              <a:t>Most severe wildfire in Canary Islands in 40 years</a:t>
            </a:r>
          </a:p>
        </p:txBody>
      </p:sp>
      <p:sp>
        <p:nvSpPr>
          <p:cNvPr id="9" name="Parallelogram 8"/>
          <p:cNvSpPr/>
          <p:nvPr/>
        </p:nvSpPr>
        <p:spPr>
          <a:xfrm>
            <a:off x="457200" y="2742074"/>
            <a:ext cx="274320" cy="27432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731304"/>
            <a:ext cx="4617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rPr dirty="0"/>
              <a:t>Over 12,000 residents evacuated</a:t>
            </a:r>
          </a:p>
        </p:txBody>
      </p:sp>
      <p:sp>
        <p:nvSpPr>
          <p:cNvPr id="11" name="Parallelogram 10"/>
          <p:cNvSpPr/>
          <p:nvPr/>
        </p:nvSpPr>
        <p:spPr>
          <a:xfrm>
            <a:off x="448056" y="3429000"/>
            <a:ext cx="274320" cy="27432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960120" y="3326033"/>
            <a:ext cx="461772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rPr dirty="0"/>
              <a:t>Classified as 'sixth-generation' wildfire </a:t>
            </a:r>
            <a:r>
              <a:rPr lang="en-US" sz="1500" dirty="0"/>
              <a:t>(</a:t>
            </a:r>
            <a:r>
              <a:rPr sz="1500" dirty="0"/>
              <a:t>Tedim et al., 2018</a:t>
            </a:r>
            <a:r>
              <a:rPr lang="en-US" sz="1500" dirty="0"/>
              <a:t>)</a:t>
            </a:r>
            <a:endParaRPr sz="1500" dirty="0"/>
          </a:p>
        </p:txBody>
      </p:sp>
      <p:sp>
        <p:nvSpPr>
          <p:cNvPr id="13" name="Parallelogram 12"/>
          <p:cNvSpPr/>
          <p:nvPr/>
        </p:nvSpPr>
        <p:spPr>
          <a:xfrm>
            <a:off x="457200" y="4160520"/>
            <a:ext cx="274320" cy="274320"/>
          </a:xfrm>
          <a:prstGeom prst="parallelogram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406908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rPr dirty="0"/>
              <a:t>Traditional models failed to predict extreme behavior</a:t>
            </a:r>
          </a:p>
        </p:txBody>
      </p:sp>
      <p:sp>
        <p:nvSpPr>
          <p:cNvPr id="15" name="Parallelogram 14"/>
          <p:cNvSpPr/>
          <p:nvPr/>
        </p:nvSpPr>
        <p:spPr>
          <a:xfrm>
            <a:off x="457200" y="4831830"/>
            <a:ext cx="274320" cy="274320"/>
          </a:xfrm>
          <a:prstGeom prst="parallelogram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758952" y="4777740"/>
            <a:ext cx="4617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rPr lang="en-US" dirty="0"/>
              <a:t>Existing m</a:t>
            </a:r>
            <a:r>
              <a:rPr dirty="0"/>
              <a:t>odels overlook </a:t>
            </a:r>
            <a:r>
              <a:rPr lang="en-US" dirty="0"/>
              <a:t>alternative modes of fire spread beyond horizontal</a:t>
            </a:r>
            <a:endParaRPr dirty="0"/>
          </a:p>
        </p:txBody>
      </p:sp>
      <p:sp>
        <p:nvSpPr>
          <p:cNvPr id="17" name="Parallelogram 16"/>
          <p:cNvSpPr/>
          <p:nvPr/>
        </p:nvSpPr>
        <p:spPr>
          <a:xfrm>
            <a:off x="457200" y="5563350"/>
            <a:ext cx="274320" cy="274320"/>
          </a:xfrm>
          <a:prstGeom prst="parallelogram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731520" y="5464665"/>
            <a:ext cx="4617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rPr lang="en-US" dirty="0"/>
              <a:t>Lack of integration of available LiDAR data in current modeling approaches</a:t>
            </a:r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5943600" y="1371600"/>
            <a:ext cx="2743200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0" y="146304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>
                <a:solidFill>
                  <a:srgbClr val="002855"/>
                </a:solidFill>
              </a:defRPr>
            </a:pPr>
            <a:r>
              <a:rPr dirty="0"/>
              <a:t>Event</a:t>
            </a:r>
            <a:br>
              <a:rPr dirty="0"/>
            </a:br>
            <a:r>
              <a:rPr dirty="0"/>
              <a:t>2023 Tenerife Fire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286000"/>
            <a:ext cx="2743200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0" y="2259241"/>
            <a:ext cx="256032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>
                <a:solidFill>
                  <a:srgbClr val="002855"/>
                </a:solidFill>
              </a:defRPr>
            </a:pPr>
            <a:r>
              <a:rPr dirty="0"/>
              <a:t>Duration</a:t>
            </a:r>
            <a:br>
              <a:rPr dirty="0"/>
            </a:br>
            <a:r>
              <a:rPr dirty="0"/>
              <a:t>Aug 15-</a:t>
            </a:r>
            <a:r>
              <a:rPr lang="en-US" dirty="0"/>
              <a:t>Nov 10</a:t>
            </a:r>
            <a:r>
              <a:rPr dirty="0"/>
              <a:t>, 2023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200400"/>
            <a:ext cx="2743200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35040" y="3197275"/>
            <a:ext cx="256032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>
                <a:solidFill>
                  <a:srgbClr val="002855"/>
                </a:solidFill>
              </a:defRPr>
            </a:pPr>
            <a:r>
              <a:rPr lang="en-US" dirty="0"/>
              <a:t>Active Fire Spread</a:t>
            </a:r>
            <a:br>
              <a:rPr dirty="0"/>
            </a:br>
            <a:r>
              <a:rPr lang="en-US" dirty="0"/>
              <a:t>Aug 15-26, 2023</a:t>
            </a:r>
            <a:endParaRPr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403A589-5034-0940-2DC1-ACA10F625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4110527"/>
            <a:ext cx="3706401" cy="2568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Research Objectives &amp;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6840" y="731520"/>
            <a:ext cx="137160" cy="6126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2024" y="109728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rPr dirty="0"/>
              <a:t>Objective 1: LiDAR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4" y="14630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rPr dirty="0"/>
              <a:t>• Integrate high-resolution LiDAR data into CA wildfire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4" y="17830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3D fuel structure representation using Plant Area Density (PAD)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" y="210312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Research Question: How effectively can LiDAR PAD represent vertical fuel connectivity?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" y="269748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Objective 2: Multi-Dimensional Fire Spread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" y="30632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rPr dirty="0"/>
              <a:t>• Develop framework with multiple fire spread mechanisms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" y="33832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rPr dirty="0"/>
              <a:t>• Horizontal spread, vertical spread, and ember 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" y="3703320"/>
            <a:ext cx="7863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rPr dirty="0"/>
              <a:t>• Research Question: How do spread modes contribute to fire behavior in complex terrain?</a:t>
            </a:r>
          </a:p>
        </p:txBody>
      </p:sp>
      <p:pic>
        <p:nvPicPr>
          <p:cNvPr id="18" name="Picture 17" descr="A diagram of a graph&#10;&#10;AI-generated content may be incorrect.">
            <a:extLst>
              <a:ext uri="{FF2B5EF4-FFF2-40B4-BE49-F238E27FC236}">
                <a16:creationId xmlns:a16="http://schemas.microsoft.com/office/drawing/2014/main" id="{F835F469-8F3D-107B-F4E2-DB692BD12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029" y="4026485"/>
            <a:ext cx="4140710" cy="26243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821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Study Area </a:t>
            </a:r>
          </a:p>
        </p:txBody>
      </p:sp>
      <p:pic>
        <p:nvPicPr>
          <p:cNvPr id="4" name="Picture 3" descr="EMSR_Binary_Masks_4Panel_Acad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114800" cy="33537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56048" y="722596"/>
            <a:ext cx="3840480" cy="42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rPr lang="en-US" b="1" dirty="0"/>
              <a:t>Terrain Characteristics: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rPr lang="en-US" dirty="0"/>
              <a:t>• Volcanic topography with barrancos (deep ravines)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rPr lang="en-US" dirty="0"/>
              <a:t>• Elevation range: 0–2,400m vertical relief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rPr lang="en-US" dirty="0"/>
              <a:t>• Steep slopes (&gt;25°) 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rPr lang="en-US" b="1" dirty="0"/>
              <a:t>Vegetation: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rPr lang="en-US" dirty="0"/>
              <a:t>• Canary Island Pine (Pinus </a:t>
            </a:r>
            <a:r>
              <a:rPr lang="en-US" dirty="0" err="1"/>
              <a:t>canariensis</a:t>
            </a:r>
            <a:r>
              <a:rPr lang="en-US" dirty="0"/>
              <a:t>) dominant species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rPr lang="en-US" dirty="0"/>
              <a:t>• Pine forests feature pyrogenic adaptations (thick bark, partial cone </a:t>
            </a:r>
            <a:r>
              <a:rPr lang="en-US" dirty="0" err="1"/>
              <a:t>serotiny</a:t>
            </a:r>
            <a:r>
              <a:rPr lang="en-US" dirty="0"/>
              <a:t>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E7BB73-04FA-3BA1-598A-E97DCD2EC493}"/>
              </a:ext>
            </a:extLst>
          </p:cNvPr>
          <p:cNvSpPr txBox="1"/>
          <p:nvPr/>
        </p:nvSpPr>
        <p:spPr>
          <a:xfrm>
            <a:off x="347472" y="4735020"/>
            <a:ext cx="520293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rPr lang="en-US" b="1" dirty="0"/>
              <a:t>Fire Event: 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rPr lang="en-US" dirty="0"/>
              <a:t>August 15 – November 10, 2023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rPr lang="en-US" dirty="0"/>
              <a:t>• Active spread phase: August 15-26 (12 days modeled)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rPr lang="en-US" dirty="0"/>
              <a:t>• Ignition: </a:t>
            </a:r>
            <a:r>
              <a:rPr lang="en-US" dirty="0" err="1"/>
              <a:t>Arafo</a:t>
            </a:r>
            <a:r>
              <a:rPr lang="en-US" dirty="0"/>
              <a:t> municipality (~1,000m elevation)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rPr lang="en-US" dirty="0"/>
              <a:t>• Final extent: 12,000 hectares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03C31"/>
          </a:solidFill>
          <a:ln>
            <a:solidFill>
              <a:srgbClr val="E03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Methodology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50392"/>
            <a:ext cx="4297680" cy="2871216"/>
          </a:xfrm>
          <a:prstGeom prst="rect">
            <a:avLst/>
          </a:prstGeom>
          <a:solidFill>
            <a:srgbClr val="E8F4F8"/>
          </a:solidFill>
          <a:ln w="25400">
            <a:solidFill>
              <a:srgbClr val="00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00356B"/>
                </a:solidFill>
              </a:defRPr>
            </a:pPr>
            <a:r>
              <a:rPr sz="2000" dirty="0"/>
              <a:t>Data &amp; Model</a:t>
            </a:r>
          </a:p>
          <a:p>
            <a:pPr>
              <a:spcAft>
                <a:spcPts val="400"/>
              </a:spcAft>
              <a:defRPr sz="1400" b="1">
                <a:solidFill>
                  <a:srgbClr val="2C2C2C"/>
                </a:solidFill>
              </a:defRPr>
            </a:pPr>
            <a:r>
              <a:rPr sz="1400" dirty="0"/>
              <a:t>Data Sources: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 b="0">
                <a:solidFill>
                  <a:srgbClr val="2C2C2C"/>
                </a:solidFill>
              </a:defRPr>
            </a:pPr>
            <a:r>
              <a:rPr lang="en-US" sz="1400" dirty="0"/>
              <a:t>LiDAR: 5m (PNOA-IGN, Spain)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 b="0">
                <a:solidFill>
                  <a:srgbClr val="2C2C2C"/>
                </a:solidFill>
              </a:defRPr>
            </a:pPr>
            <a:r>
              <a:rPr lang="en-US" sz="1400" dirty="0"/>
              <a:t> Terrain: 5m DTM (Instituto </a:t>
            </a:r>
            <a:r>
              <a:rPr lang="en-US" sz="1400" dirty="0" err="1"/>
              <a:t>Geográfico</a:t>
            </a:r>
            <a:r>
              <a:rPr lang="en-US" sz="1400" dirty="0"/>
              <a:t> Nacional)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 b="0">
                <a:solidFill>
                  <a:srgbClr val="2C2C2C"/>
                </a:solidFill>
              </a:defRPr>
            </a:pPr>
            <a:r>
              <a:rPr lang="en-US" sz="1400" dirty="0"/>
              <a:t> Fire: EMSR-685 delineations (Copernicus EMS, Aug 2023)</a:t>
            </a:r>
            <a:r>
              <a:rPr sz="1400" dirty="0"/>
              <a:t>3D CA Model: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 b="0">
                <a:solidFill>
                  <a:srgbClr val="2C2C2C"/>
                </a:solidFill>
              </a:defRPr>
            </a:pPr>
            <a:r>
              <a:rPr sz="1400" dirty="0"/>
              <a:t> </a:t>
            </a:r>
            <a:r>
              <a:rPr lang="en-US" sz="1400" dirty="0"/>
              <a:t>3D model,</a:t>
            </a:r>
            <a:r>
              <a:rPr sz="1400" dirty="0"/>
              <a:t>20m resolution, 20 layers (0-40m)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 b="0">
                <a:solidFill>
                  <a:srgbClr val="2C2C2C"/>
                </a:solidFill>
              </a:defRPr>
            </a:pPr>
            <a:r>
              <a:rPr sz="1400" dirty="0"/>
              <a:t>3 spread mechanisms: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 b="0">
                <a:solidFill>
                  <a:srgbClr val="2C2C2C"/>
                </a:solidFill>
              </a:defRPr>
            </a:pPr>
            <a:r>
              <a:rPr sz="1400" dirty="0"/>
              <a:t>Horizontal, Vertical, Ember</a:t>
            </a:r>
            <a:endParaRPr sz="1200" dirty="0"/>
          </a:p>
        </p:txBody>
      </p:sp>
      <p:sp>
        <p:nvSpPr>
          <p:cNvPr id="4" name="Rectangle 3"/>
          <p:cNvSpPr/>
          <p:nvPr/>
        </p:nvSpPr>
        <p:spPr>
          <a:xfrm>
            <a:off x="4754880" y="850392"/>
            <a:ext cx="4114800" cy="2871216"/>
          </a:xfrm>
          <a:prstGeom prst="rect">
            <a:avLst/>
          </a:prstGeom>
          <a:solidFill>
            <a:srgbClr val="E8F5E9"/>
          </a:solidFill>
          <a:ln w="25400">
            <a:solidFill>
              <a:srgbClr val="00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00356B"/>
                </a:solidFill>
              </a:defRPr>
            </a:pPr>
            <a:r>
              <a:rPr sz="2400" dirty="0"/>
              <a:t>Objective Function</a:t>
            </a:r>
          </a:p>
          <a:p>
            <a:pPr algn="ctr">
              <a:spcAft>
                <a:spcPts val="800"/>
              </a:spcAft>
              <a:defRPr sz="1800" b="1">
                <a:solidFill>
                  <a:srgbClr val="2C2C2C"/>
                </a:solidFill>
              </a:defRPr>
            </a:pPr>
            <a:r>
              <a:rPr sz="2000" dirty="0"/>
              <a:t>Minimize: (1 - Dice) + P</a:t>
            </a:r>
          </a:p>
          <a:p>
            <a:pPr algn="ctr">
              <a:spcAft>
                <a:spcPts val="600"/>
              </a:spcAft>
              <a:defRPr sz="1400">
                <a:solidFill>
                  <a:srgbClr val="2C2C2C"/>
                </a:solidFill>
              </a:defRPr>
            </a:pPr>
            <a:r>
              <a:rPr sz="1400" dirty="0"/>
              <a:t>Dice = 2|A∩B| / (|A|+|B|)</a:t>
            </a:r>
          </a:p>
          <a:p>
            <a:pPr algn="ctr">
              <a:spcAft>
                <a:spcPts val="1200"/>
              </a:spcAft>
              <a:defRPr sz="1200">
                <a:solidFill>
                  <a:srgbClr val="2C2C2C"/>
                </a:solidFill>
              </a:defRPr>
            </a:pPr>
            <a:r>
              <a:rPr sz="1100" dirty="0"/>
              <a:t>P = 2(r-2)² if r&gt;2, else P=0</a:t>
            </a:r>
          </a:p>
          <a:p>
            <a:pPr>
              <a:spcAft>
                <a:spcPts val="400"/>
              </a:spcAft>
              <a:defRPr sz="1400" b="1">
                <a:solidFill>
                  <a:srgbClr val="2C2C2C"/>
                </a:solidFill>
              </a:defRPr>
            </a:pPr>
            <a:r>
              <a:rPr sz="1600" dirty="0"/>
              <a:t>Rationale: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rPr sz="1200" dirty="0"/>
              <a:t>• Balances spatial accuracy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rPr sz="1200" dirty="0"/>
              <a:t>• Prevents unrealistic spread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rPr sz="1200" dirty="0"/>
              <a:t>• Standard in wildfire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840480"/>
            <a:ext cx="4297680" cy="2944368"/>
          </a:xfrm>
          <a:prstGeom prst="rect">
            <a:avLst/>
          </a:prstGeom>
          <a:solidFill>
            <a:srgbClr val="FFF3E0"/>
          </a:solidFill>
          <a:ln w="25400">
            <a:solidFill>
              <a:srgbClr val="00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00356B"/>
                </a:solidFill>
              </a:defRPr>
            </a:pPr>
            <a:r>
              <a:rPr sz="2400" dirty="0"/>
              <a:t>Calibration Framework</a:t>
            </a:r>
          </a:p>
          <a:p>
            <a:pPr>
              <a:spcAft>
                <a:spcPts val="600"/>
              </a:spcAft>
              <a:defRPr sz="1400" b="1">
                <a:solidFill>
                  <a:srgbClr val="2C2C2C"/>
                </a:solidFill>
              </a:defRPr>
            </a:pPr>
            <a:r>
              <a:rPr sz="1600" dirty="0"/>
              <a:t>Two-Stage Approach:</a:t>
            </a:r>
          </a:p>
          <a:p>
            <a:pPr>
              <a:spcAft>
                <a:spcPts val="400"/>
              </a:spcAft>
              <a:defRPr sz="1400" b="1">
                <a:solidFill>
                  <a:srgbClr val="F57C00"/>
                </a:solidFill>
              </a:defRPr>
            </a:pPr>
            <a:r>
              <a:rPr sz="1600" dirty="0"/>
              <a:t>Stage 1: Sensitivity Analysis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rPr sz="1400" dirty="0"/>
              <a:t>  • 16 parameters tested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rPr sz="1400" dirty="0"/>
              <a:t>  • Range-based screening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rPr sz="1400" dirty="0"/>
              <a:t>  • Top 4 parameters selected</a:t>
            </a:r>
          </a:p>
          <a:p>
            <a:pPr>
              <a:spcAft>
                <a:spcPts val="400"/>
              </a:spcAft>
              <a:defRPr sz="1400" b="1">
                <a:solidFill>
                  <a:srgbClr val="1976D2"/>
                </a:solidFill>
              </a:defRPr>
            </a:pPr>
            <a:r>
              <a:rPr sz="1600" dirty="0"/>
              <a:t>Stage 2: Grid Search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rPr sz="1400" dirty="0"/>
              <a:t>  • 3 points × 4 params = 81 runs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rPr sz="1400" dirty="0"/>
              <a:t>  • Modified Dice optimization</a:t>
            </a:r>
          </a:p>
          <a:p>
            <a:pPr>
              <a:defRPr sz="1200" i="1">
                <a:solidFill>
                  <a:srgbClr val="2C2C2C"/>
                </a:solidFill>
              </a:defRPr>
            </a:pPr>
            <a:r>
              <a:rPr sz="1400" dirty="0"/>
              <a:t>Training: Days 1-2 (Aug 18-21)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840480"/>
            <a:ext cx="4114800" cy="2944368"/>
          </a:xfrm>
          <a:prstGeom prst="rect">
            <a:avLst/>
          </a:prstGeom>
          <a:solidFill>
            <a:srgbClr val="F3E5F5"/>
          </a:solidFill>
          <a:ln w="25400">
            <a:solidFill>
              <a:srgbClr val="00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00356B"/>
                </a:solidFill>
              </a:defRPr>
            </a:pPr>
            <a:r>
              <a:rPr sz="2400" dirty="0"/>
              <a:t>Validation</a:t>
            </a:r>
          </a:p>
          <a:p>
            <a:pPr>
              <a:spcAft>
                <a:spcPts val="600"/>
              </a:spcAft>
              <a:defRPr sz="1400" b="1">
                <a:solidFill>
                  <a:srgbClr val="2C2C2C"/>
                </a:solidFill>
              </a:defRPr>
            </a:pPr>
            <a:r>
              <a:rPr sz="1600" dirty="0"/>
              <a:t>Out-of-Sample Testing:</a:t>
            </a:r>
          </a:p>
          <a:p>
            <a:pPr>
              <a:spcAft>
                <a:spcPts val="300"/>
              </a:spcAft>
              <a:defRPr sz="1300" b="1">
                <a:solidFill>
                  <a:srgbClr val="2C2C2C"/>
                </a:solidFill>
              </a:defRPr>
            </a:pPr>
            <a:r>
              <a:rPr sz="1400" dirty="0"/>
              <a:t>Test Period:</a:t>
            </a:r>
          </a:p>
          <a:p>
            <a:pPr>
              <a:spcAft>
                <a:spcPts val="800"/>
              </a:spcAft>
              <a:defRPr sz="1200">
                <a:solidFill>
                  <a:srgbClr val="2C2C2C"/>
                </a:solidFill>
              </a:defRPr>
            </a:pPr>
            <a:r>
              <a:rPr sz="1400" dirty="0"/>
              <a:t>Days 3-4 (Aug 24-26)</a:t>
            </a:r>
          </a:p>
          <a:p>
            <a:pPr>
              <a:spcAft>
                <a:spcPts val="400"/>
              </a:spcAft>
              <a:defRPr sz="1300" b="1">
                <a:solidFill>
                  <a:srgbClr val="2C2C2C"/>
                </a:solidFill>
              </a:defRPr>
            </a:pPr>
            <a:r>
              <a:rPr sz="1400" dirty="0"/>
              <a:t>Performance Metrics: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rPr sz="1400" dirty="0"/>
              <a:t>• Day 3: Dice = 0.690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rPr sz="1400" dirty="0"/>
              <a:t>• Day 4: Dice = 0.486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rPr sz="1400" dirty="0"/>
              <a:t>• Improvement: +29.6%</a:t>
            </a:r>
          </a:p>
          <a:p>
            <a:pPr>
              <a:defRPr sz="1200" i="1">
                <a:solidFill>
                  <a:srgbClr val="2C2C2C"/>
                </a:solidFill>
              </a:defRPr>
            </a:pPr>
            <a:r>
              <a:rPr sz="1400" dirty="0"/>
              <a:t>Ensures model generalization</a:t>
            </a:r>
            <a:br>
              <a:rPr sz="1400" dirty="0"/>
            </a:br>
            <a:r>
              <a:rPr sz="1400" dirty="0"/>
              <a:t>to unseen fire events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LiDAR </a:t>
            </a:r>
            <a:r>
              <a:rPr lang="en-US" dirty="0"/>
              <a:t>Pre-</a:t>
            </a:r>
            <a:r>
              <a:rPr dirty="0"/>
              <a:t>Processing &amp; Model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6840" y="731520"/>
            <a:ext cx="137160" cy="6126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05992"/>
            <a:ext cx="397410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rPr dirty="0"/>
              <a:t>LiDAR </a:t>
            </a:r>
            <a:r>
              <a:rPr lang="en-US" dirty="0"/>
              <a:t>Pre-</a:t>
            </a:r>
            <a:r>
              <a:rPr dirty="0"/>
              <a:t>Processing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347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rPr dirty="0"/>
              <a:t>3D CA Model Architecture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49F1A8-4256-2561-A1CC-5F801E515736}"/>
              </a:ext>
            </a:extLst>
          </p:cNvPr>
          <p:cNvSpPr txBox="1"/>
          <p:nvPr/>
        </p:nvSpPr>
        <p:spPr>
          <a:xfrm>
            <a:off x="548640" y="1124341"/>
            <a:ext cx="591616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Height normalization using PDAL HAG algorithm and extraction of vegetation points</a:t>
            </a:r>
          </a:p>
          <a:p>
            <a:r>
              <a:rPr lang="en-US" sz="1200" dirty="0"/>
              <a:t> (PDAL Contributors, 2023)</a:t>
            </a:r>
          </a:p>
          <a:p>
            <a:r>
              <a:rPr lang="en-US" dirty="0"/>
              <a:t>• Normalized Relative Density (NRD) calculation</a:t>
            </a:r>
          </a:p>
          <a:p>
            <a:r>
              <a:rPr lang="en-US" dirty="0"/>
              <a:t> </a:t>
            </a:r>
            <a:r>
              <a:rPr lang="en-US" sz="1200" dirty="0"/>
              <a:t>(MacArthur &amp; Horn, 1969)</a:t>
            </a:r>
          </a:p>
          <a:p>
            <a:r>
              <a:rPr lang="en-US" dirty="0"/>
              <a:t>• PAD derivation via Beer-Lambert law (</a:t>
            </a:r>
            <a:r>
              <a:rPr lang="el-GR" dirty="0"/>
              <a:t>κ=0.6)</a:t>
            </a:r>
            <a:endParaRPr lang="en-US" dirty="0"/>
          </a:p>
          <a:p>
            <a:r>
              <a:rPr lang="el-GR" dirty="0"/>
              <a:t> </a:t>
            </a:r>
            <a:r>
              <a:rPr lang="el-GR" sz="1200" dirty="0"/>
              <a:t>(</a:t>
            </a:r>
            <a:r>
              <a:rPr lang="en-US" sz="1200" dirty="0"/>
              <a:t>Campbell &amp; Norman, 1998)</a:t>
            </a:r>
          </a:p>
          <a:p>
            <a:r>
              <a:rPr lang="en-US" dirty="0"/>
              <a:t>• 20 vertical layers at 2m intervals (0-40m)</a:t>
            </a:r>
          </a:p>
          <a:p>
            <a:r>
              <a:rPr lang="en-US" dirty="0"/>
              <a:t>• Resampling: 5m → 20m resolution (16× reduction)</a:t>
            </a:r>
          </a:p>
        </p:txBody>
      </p:sp>
      <p:pic>
        <p:nvPicPr>
          <p:cNvPr id="19" name="Picture 18" descr="A screenshot of a diagram&#10;&#10;AI-generated content may be incorrect.">
            <a:extLst>
              <a:ext uri="{FF2B5EF4-FFF2-40B4-BE49-F238E27FC236}">
                <a16:creationId xmlns:a16="http://schemas.microsoft.com/office/drawing/2014/main" id="{B25CAF4B-12E8-0278-DBAE-2CFFEF69B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219" y="840807"/>
            <a:ext cx="2722621" cy="559034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D5CA56F-7C7A-7D0A-B8B5-D0D4F34DC883}"/>
              </a:ext>
            </a:extLst>
          </p:cNvPr>
          <p:cNvSpPr txBox="1"/>
          <p:nvPr/>
        </p:nvSpPr>
        <p:spPr>
          <a:xfrm>
            <a:off x="548640" y="3995928"/>
            <a:ext cx="526694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Horizontal: Moore neighborhood, slope/wind factors </a:t>
            </a:r>
            <a:r>
              <a:rPr lang="en-US" sz="1200" dirty="0"/>
              <a:t>(Rothermel, 1972)</a:t>
            </a:r>
          </a:p>
          <a:p>
            <a:r>
              <a:rPr lang="en-US" dirty="0"/>
              <a:t>• Vertical: √(</a:t>
            </a:r>
            <a:r>
              <a:rPr lang="en-US" dirty="0" err="1"/>
              <a:t>fuel_lower</a:t>
            </a:r>
            <a:r>
              <a:rPr lang="en-US" dirty="0"/>
              <a:t> × </a:t>
            </a:r>
            <a:r>
              <a:rPr lang="en-US" dirty="0" err="1"/>
              <a:t>fuel_upper</a:t>
            </a:r>
            <a:r>
              <a:rPr lang="en-US" dirty="0"/>
              <a:t>) connectivity </a:t>
            </a:r>
          </a:p>
          <a:p>
            <a:r>
              <a:rPr lang="en-US" sz="1200" dirty="0"/>
              <a:t>(Van Wagner, 1977)</a:t>
            </a:r>
            <a:endParaRPr lang="en-US" dirty="0"/>
          </a:p>
          <a:p>
            <a:r>
              <a:rPr lang="en-US" dirty="0"/>
              <a:t>• Ember: Exponential distance decay, wind-biased direction</a:t>
            </a:r>
          </a:p>
          <a:p>
            <a:r>
              <a:rPr lang="en-US" dirty="0"/>
              <a:t> </a:t>
            </a:r>
            <a:r>
              <a:rPr lang="en-US" sz="1200" dirty="0"/>
              <a:t>(Albini, 1979)</a:t>
            </a:r>
          </a:p>
          <a:p>
            <a:r>
              <a:rPr lang="en-US" dirty="0"/>
              <a:t>• Terrain: Barranco detection and wind channeling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Model Structure &amp; Computational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6840" y="731520"/>
            <a:ext cx="137160" cy="6126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4904" y="894219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rPr dirty="0"/>
              <a:t>Why Custom 3D CA Model?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97096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rPr dirty="0"/>
              <a:t>Key Optimizations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3712C9-8599-2662-94C0-ACAB29C2A8C9}"/>
              </a:ext>
            </a:extLst>
          </p:cNvPr>
          <p:cNvSpPr txBox="1"/>
          <p:nvPr/>
        </p:nvSpPr>
        <p:spPr>
          <a:xfrm>
            <a:off x="457200" y="1388531"/>
            <a:ext cx="75163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LiDAR Integration</a:t>
            </a:r>
          </a:p>
          <a:p>
            <a:r>
              <a:rPr lang="en-US" dirty="0"/>
              <a:t>   FARSITE/</a:t>
            </a:r>
            <a:r>
              <a:rPr lang="en-US" dirty="0" err="1"/>
              <a:t>FlamMap</a:t>
            </a:r>
            <a:r>
              <a:rPr lang="en-US" dirty="0"/>
              <a:t> use 2D fuel classifications, </a:t>
            </a:r>
          </a:p>
          <a:p>
            <a:r>
              <a:rPr lang="en-US" dirty="0"/>
              <a:t>   cannot utilize continuous 3D PAD data</a:t>
            </a:r>
          </a:p>
          <a:p>
            <a:r>
              <a:rPr lang="en-US" dirty="0"/>
              <a:t>2. </a:t>
            </a:r>
            <a:r>
              <a:rPr lang="en-US" b="1" dirty="0"/>
              <a:t>Computational Efficiency</a:t>
            </a:r>
          </a:p>
          <a:p>
            <a:r>
              <a:rPr lang="en-US" dirty="0"/>
              <a:t>   Sparse storage + pre-computed terrain → 85% </a:t>
            </a:r>
          </a:p>
          <a:p>
            <a:r>
              <a:rPr lang="en-US" dirty="0"/>
              <a:t>   memory reduction, enables 100s of calibration runs</a:t>
            </a:r>
          </a:p>
          <a:p>
            <a:r>
              <a:rPr lang="en-US" dirty="0"/>
              <a:t>3. </a:t>
            </a:r>
            <a:r>
              <a:rPr lang="en-US" b="1" dirty="0"/>
              <a:t>Region-Specific</a:t>
            </a:r>
          </a:p>
          <a:p>
            <a:r>
              <a:rPr lang="en-US" dirty="0"/>
              <a:t>   Canary Island pine needs custom parameters </a:t>
            </a:r>
          </a:p>
          <a:p>
            <a:r>
              <a:rPr lang="en-US" dirty="0"/>
              <a:t>   (not North American fuel models, accounts for </a:t>
            </a:r>
            <a:r>
              <a:rPr lang="en-US" dirty="0" err="1"/>
              <a:t>calima</a:t>
            </a:r>
            <a:r>
              <a:rPr lang="en-US" dirty="0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02D694-A9A2-78FF-F09D-AD7CDE54046F}"/>
              </a:ext>
            </a:extLst>
          </p:cNvPr>
          <p:cNvSpPr txBox="1"/>
          <p:nvPr/>
        </p:nvSpPr>
        <p:spPr>
          <a:xfrm>
            <a:off x="457200" y="4740378"/>
            <a:ext cx="71414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Sparse matrix storage: 85% memory reduction vs dense arrays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Pre-computed terrain: Barranco detection, wind channeling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Large-scale grid: 609×609×20 layers (7.4M cells)</a:t>
            </a:r>
          </a:p>
        </p:txBody>
      </p:sp>
      <p:pic>
        <p:nvPicPr>
          <p:cNvPr id="20" name="Picture 19" descr="A diagram of a graph&#10;&#10;AI-generated content may be incorrect.">
            <a:extLst>
              <a:ext uri="{FF2B5EF4-FFF2-40B4-BE49-F238E27FC236}">
                <a16:creationId xmlns:a16="http://schemas.microsoft.com/office/drawing/2014/main" id="{E5B4AE22-7F2E-9434-BA50-57AC7C2D8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402" y="1223403"/>
            <a:ext cx="3034286" cy="26243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Fire Spread Mechanisms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74336" y="731520"/>
            <a:ext cx="384048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rPr lang="en-US" dirty="0"/>
              <a:t>Model implements </a:t>
            </a:r>
            <a:r>
              <a:rPr lang="en-US" b="1" dirty="0"/>
              <a:t>three physically-based spread mechanisms</a:t>
            </a:r>
            <a:r>
              <a:rPr lang="en-US" dirty="0"/>
              <a:t>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rgbClr val="646464"/>
                </a:solidFill>
              </a:defRPr>
            </a:pPr>
            <a:r>
              <a:rPr lang="en-US" b="1" dirty="0"/>
              <a:t>Horizontal</a:t>
            </a:r>
            <a:r>
              <a:rPr lang="en-US" dirty="0"/>
              <a:t>: Moore neighborhood (8-connectivity) for surface fire propagation (Slope, Fuel, Wind Direction)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rgbClr val="646464"/>
                </a:solidFill>
              </a:defRPr>
            </a:pPr>
            <a:r>
              <a:rPr lang="en-US" b="1" dirty="0"/>
              <a:t>Vertical: </a:t>
            </a:r>
            <a:r>
              <a:rPr lang="en-US" dirty="0"/>
              <a:t>Layer-to-layer transitions through 20 vertical strata based on fuel connectivity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rgbClr val="646464"/>
                </a:solidFill>
              </a:defRPr>
            </a:pPr>
            <a:r>
              <a:rPr lang="en-US" b="1" dirty="0"/>
              <a:t>Ember: </a:t>
            </a:r>
            <a:r>
              <a:rPr lang="en-US" dirty="0"/>
              <a:t>Stochastic long-distance spotting with wind-bias parameterization.</a:t>
            </a:r>
            <a:endParaRPr dirty="0"/>
          </a:p>
        </p:txBody>
      </p:sp>
      <p:pic>
        <p:nvPicPr>
          <p:cNvPr id="8" name="Picture 7" descr="A graph of a graph of a function&#10;&#10;AI-generated content may be incorrect.">
            <a:extLst>
              <a:ext uri="{FF2B5EF4-FFF2-40B4-BE49-F238E27FC236}">
                <a16:creationId xmlns:a16="http://schemas.microsoft.com/office/drawing/2014/main" id="{9636A0FF-D735-F0F0-D571-B5F327C3B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04672"/>
            <a:ext cx="4974336" cy="3703320"/>
          </a:xfrm>
          <a:prstGeom prst="rect">
            <a:avLst/>
          </a:prstGeom>
        </p:spPr>
      </p:pic>
      <p:pic>
        <p:nvPicPr>
          <p:cNvPr id="13" name="Picture 1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FC4FD1E-91F8-0867-07E6-D9B67FE71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584" y="4314664"/>
            <a:ext cx="6464808" cy="27262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Calibration Approach</a:t>
            </a:r>
          </a:p>
        </p:txBody>
      </p:sp>
      <p:pic>
        <p:nvPicPr>
          <p:cNvPr id="9" name="Picture 8" descr="A diagram of a flowchart&#10;&#10;AI-generated content may be incorrect.">
            <a:extLst>
              <a:ext uri="{FF2B5EF4-FFF2-40B4-BE49-F238E27FC236}">
                <a16:creationId xmlns:a16="http://schemas.microsoft.com/office/drawing/2014/main" id="{134F5C13-5C67-693F-5200-488B58B2D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585" y="868680"/>
            <a:ext cx="5153415" cy="60076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2D53C6-4F82-D5FF-26FD-1778170E9E59}"/>
              </a:ext>
            </a:extLst>
          </p:cNvPr>
          <p:cNvSpPr txBox="1"/>
          <p:nvPr/>
        </p:nvSpPr>
        <p:spPr>
          <a:xfrm>
            <a:off x="219456" y="996696"/>
            <a:ext cx="399058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Two-Stage Calibration:</a:t>
            </a:r>
          </a:p>
          <a:p>
            <a:r>
              <a:rPr lang="en-US" dirty="0"/>
              <a:t>Stage 1: Sensitivity Analysis (Range-based screening)</a:t>
            </a:r>
          </a:p>
          <a:p>
            <a:r>
              <a:rPr lang="en-US" dirty="0"/>
              <a:t>• 9 points × 16 parameters → Identified top 4</a:t>
            </a:r>
          </a:p>
          <a:p>
            <a:r>
              <a:rPr lang="en-US" dirty="0"/>
              <a:t>• Metric: Composite fire behavior variability</a:t>
            </a:r>
          </a:p>
          <a:p>
            <a:endParaRPr lang="en-US" dirty="0"/>
          </a:p>
          <a:p>
            <a:r>
              <a:rPr lang="en-US" dirty="0"/>
              <a:t>Stage 2: Grid Search</a:t>
            </a:r>
          </a:p>
          <a:p>
            <a:r>
              <a:rPr lang="en-US" dirty="0"/>
              <a:t>3 points × 4 parameters = 81 simulations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Metric: Modified Dice coefficient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Training Data: Days 1-2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Data: Days 3-4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766CB3-A2E5-BECF-6665-83F81C8A7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244" y="6489181"/>
            <a:ext cx="1447492" cy="210544"/>
          </a:xfrm>
          <a:prstGeom prst="rect">
            <a:avLst/>
          </a:prstGeom>
        </p:spPr>
      </p:pic>
      <p:pic>
        <p:nvPicPr>
          <p:cNvPr id="15" name="Picture 14" descr="A close-up of a graph&#10;&#10;AI-generated content may be incorrect.">
            <a:extLst>
              <a:ext uri="{FF2B5EF4-FFF2-40B4-BE49-F238E27FC236}">
                <a16:creationId xmlns:a16="http://schemas.microsoft.com/office/drawing/2014/main" id="{B9571FB4-4E32-0F78-015B-235B6A95C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67013"/>
            <a:ext cx="3856033" cy="19815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AFAD0E3-861C-0DF7-D3DE-84F8563587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7501" y="3586694"/>
            <a:ext cx="2423669" cy="2857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Sensitivity Analysis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188720"/>
            <a:ext cx="3840480" cy="44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rPr lang="en-US" dirty="0"/>
              <a:t>Key Finding: 4 parameters dominate fire behavior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rPr lang="en-US" dirty="0"/>
              <a:t>Top 4 Parameters (for grid search):</a:t>
            </a:r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  <a:defRPr sz="1800">
                <a:solidFill>
                  <a:srgbClr val="646464"/>
                </a:solidFill>
              </a:defRPr>
            </a:pPr>
            <a:r>
              <a:rPr lang="en-US" b="1" dirty="0"/>
              <a:t>Spread Probability</a:t>
            </a:r>
            <a:endParaRPr lang="en-US" dirty="0"/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  <a:defRPr sz="1800">
                <a:solidFill>
                  <a:srgbClr val="646464"/>
                </a:solidFill>
              </a:defRPr>
            </a:pPr>
            <a:r>
              <a:rPr lang="en-US" b="1" dirty="0"/>
              <a:t>Fuel Consumption Rate</a:t>
            </a:r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  <a:defRPr sz="1800">
                <a:solidFill>
                  <a:srgbClr val="646464"/>
                </a:solidFill>
              </a:defRPr>
            </a:pPr>
            <a:r>
              <a:rPr lang="en-US" b="1" dirty="0"/>
              <a:t>Ember Probability</a:t>
            </a:r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  <a:defRPr sz="1800">
                <a:solidFill>
                  <a:srgbClr val="646464"/>
                </a:solidFill>
              </a:defRPr>
            </a:pPr>
            <a:r>
              <a:rPr lang="en-US" b="1" dirty="0"/>
              <a:t>Ember Ignition</a:t>
            </a:r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  <a:defRPr sz="1800">
                <a:solidFill>
                  <a:srgbClr val="646464"/>
                </a:solidFill>
              </a:defRPr>
            </a:pPr>
            <a:endParaRPr lang="en-US" b="1" dirty="0"/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rPr lang="en-US" b="1" dirty="0"/>
              <a:t>Calibration Efficiency: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rPr lang="en-US" dirty="0"/>
              <a:t>• 75% reduction in parameter space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rPr lang="en-US" dirty="0"/>
              <a:t>• Search space: 43 million → 81 combinations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rPr lang="en-US" dirty="0"/>
              <a:t>• Focused optimization on critical parameters</a:t>
            </a:r>
            <a:endParaRPr dirty="0"/>
          </a:p>
        </p:txBody>
      </p:sp>
      <p:pic>
        <p:nvPicPr>
          <p:cNvPr id="14" name="Picture 13" descr="Figure_Sensitivity_Parameter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4" y="868680"/>
            <a:ext cx="4928616" cy="3903956"/>
          </a:xfrm>
          <a:prstGeom prst="rect">
            <a:avLst/>
          </a:prstGeom>
        </p:spPr>
      </p:pic>
      <p:pic>
        <p:nvPicPr>
          <p:cNvPr id="15" name="Picture 14" descr="A close-up of a graph&#10;&#10;AI-generated content may be incorrect.">
            <a:extLst>
              <a:ext uri="{FF2B5EF4-FFF2-40B4-BE49-F238E27FC236}">
                <a16:creationId xmlns:a16="http://schemas.microsoft.com/office/drawing/2014/main" id="{F8735A94-C3A4-A805-9122-5929BBCB5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4605056"/>
            <a:ext cx="4121209" cy="22529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Validation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905256"/>
            <a:ext cx="3840480" cy="284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rPr lang="en-US" dirty="0"/>
              <a:t>Optimal parameter combination found on training data and then used on test data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rPr dirty="0"/>
              <a:t>Validation Period: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rPr dirty="0"/>
              <a:t>• Day 3: Objective = 0.690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rPr dirty="0"/>
              <a:t>• Day 4: Objective = 0.486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rPr dirty="0"/>
              <a:t>• Improvement: 29.6% (Day 3 → Day 4)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rPr dirty="0"/>
              <a:t>• ~53 minutes per simulation (20m resolution)</a:t>
            </a:r>
          </a:p>
        </p:txBody>
      </p:sp>
      <p:pic>
        <p:nvPicPr>
          <p:cNvPr id="14" name="Picture 13" descr="Figure_19_CORRECTED_Spatial_Validation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813816"/>
            <a:ext cx="5010912" cy="2633472"/>
          </a:xfrm>
          <a:prstGeom prst="rect">
            <a:avLst/>
          </a:prstGeom>
        </p:spPr>
      </p:pic>
      <p:pic>
        <p:nvPicPr>
          <p:cNvPr id="15" name="Picture 14" descr="A close-up of a math equation&#10;&#10;AI-generated content may be incorrect.">
            <a:extLst>
              <a:ext uri="{FF2B5EF4-FFF2-40B4-BE49-F238E27FC236}">
                <a16:creationId xmlns:a16="http://schemas.microsoft.com/office/drawing/2014/main" id="{16ED0D6B-EB80-D950-8032-5A22452FE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35910"/>
            <a:ext cx="4091940" cy="2779776"/>
          </a:xfrm>
          <a:prstGeom prst="rect">
            <a:avLst/>
          </a:prstGeom>
        </p:spPr>
      </p:pic>
      <p:pic>
        <p:nvPicPr>
          <p:cNvPr id="16" name="Picture 15" descr="A diagram of a function&#10;&#10;AI-generated content may be incorrect.">
            <a:extLst>
              <a:ext uri="{FF2B5EF4-FFF2-40B4-BE49-F238E27FC236}">
                <a16:creationId xmlns:a16="http://schemas.microsoft.com/office/drawing/2014/main" id="{A0FE5024-66FC-890B-C7A0-B0FD690EF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646028"/>
            <a:ext cx="4960620" cy="32119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Key Findings &amp; </a:t>
            </a:r>
            <a:r>
              <a:rPr lang="en-US" dirty="0"/>
              <a:t>Challenges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26280" y="914400"/>
            <a:ext cx="38100" cy="5669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343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D32"/>
                </a:solidFill>
              </a:defRPr>
            </a:pPr>
            <a:r>
              <a:rPr dirty="0"/>
              <a:t>✓ Achievements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9800"/>
                </a:solidFill>
              </a:defRPr>
            </a:pPr>
            <a:r>
              <a:rPr dirty="0"/>
              <a:t>⚠ Challenges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FFD801-DE94-6A65-5E41-55665FE42B72}"/>
              </a:ext>
            </a:extLst>
          </p:cNvPr>
          <p:cNvSpPr txBox="1"/>
          <p:nvPr/>
        </p:nvSpPr>
        <p:spPr>
          <a:xfrm>
            <a:off x="709422" y="1463040"/>
            <a:ext cx="311886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Successful LiDAR PAD integration for 3D fuel structure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Systematic calibration framework (43M → 81 simulations)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Identified critical parameters via sensitivity analysis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Framework demonstrates feasibility of approach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3CC6F5-D058-F622-36D9-BF1103793689}"/>
              </a:ext>
            </a:extLst>
          </p:cNvPr>
          <p:cNvSpPr txBox="1"/>
          <p:nvPr/>
        </p:nvSpPr>
        <p:spPr>
          <a:xfrm>
            <a:off x="5486400" y="1463040"/>
            <a:ext cx="31165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Vertical spread: Only 3.8% (expected 30-50%)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Ember spread: 43.0% (expected 10-20%) Compensating errors rather than physical accuracy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Need multi-objective calibration and fuel constraints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Conclusions &amp; Future Directions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640080" y="1188720"/>
            <a:ext cx="457200" cy="45720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855"/>
                </a:solidFill>
              </a:defRPr>
            </a:pPr>
            <a:r>
              <a:rPr dirty="0"/>
              <a:t>Research Questions Addressed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0020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Q1: LiDAR PAD successfully represents vertical fuel connectivity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92808"/>
            <a:ext cx="7132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rPr dirty="0"/>
              <a:t>     → Framework operational, requires refinement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85416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rPr dirty="0"/>
              <a:t>Q2: Spread modes quantified (H:23.7%, V:3.8%, E:43.0%)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50592"/>
            <a:ext cx="7132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rPr dirty="0"/>
              <a:t>     → </a:t>
            </a:r>
            <a:r>
              <a:rPr lang="en-US" dirty="0"/>
              <a:t>Ember dominance reveals need for physical constraints</a:t>
            </a:r>
            <a:endParaRPr dirty="0"/>
          </a:p>
        </p:txBody>
      </p:sp>
      <p:sp>
        <p:nvSpPr>
          <p:cNvPr id="11" name="Parallelogram 10"/>
          <p:cNvSpPr/>
          <p:nvPr/>
        </p:nvSpPr>
        <p:spPr>
          <a:xfrm>
            <a:off x="640080" y="3136392"/>
            <a:ext cx="457200" cy="45720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13639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3639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855"/>
                </a:solidFill>
              </a:defRPr>
            </a:pPr>
            <a:r>
              <a:t>Main Contributions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47872"/>
            <a:ext cx="7132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rPr dirty="0"/>
              <a:t>• 3D CA wildfire model with continuous LiDAR PAD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404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Systematic two-stage calibration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8795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rPr dirty="0"/>
              <a:t>• Quantitative analysis of fire spread mode contributions</a:t>
            </a:r>
          </a:p>
        </p:txBody>
      </p:sp>
      <p:sp>
        <p:nvSpPr>
          <p:cNvPr id="18" name="Parallelogram 17"/>
          <p:cNvSpPr/>
          <p:nvPr/>
        </p:nvSpPr>
        <p:spPr>
          <a:xfrm>
            <a:off x="640080" y="5084064"/>
            <a:ext cx="457200" cy="45720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084064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84064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855"/>
                </a:solidFill>
              </a:defRPr>
            </a:pPr>
            <a:r>
              <a:t>Future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495544"/>
            <a:ext cx="7132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rPr dirty="0"/>
              <a:t>• Multi-objective calibration </a:t>
            </a:r>
            <a:r>
              <a:rPr lang="en-US" dirty="0"/>
              <a:t>(spatial + mechanistic constrains)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1463040" y="578815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Fire suppression mechanisms and fuel consumption limits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608076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Validation against additional fire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637336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rPr dirty="0"/>
              <a:t>• Integration with weather forecasting systems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Acknowledgments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2855"/>
                </a:solidFill>
              </a:defRPr>
            </a:pPr>
            <a:r>
              <a:t>Supervisor: dr. A.C. Seijmonsbergen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2855"/>
                </a:solidFill>
              </a:defRPr>
            </a:pPr>
            <a:r>
              <a:t>Assessor: dr. Yifang 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2855"/>
                </a:solidFill>
              </a:defRPr>
            </a:pPr>
            <a:r>
              <a:t>Data 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• PNOA-IGN (LiDAR point cloud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• Copernicus EMSR (Fire perimeter delineations)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4747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• IGN Spain (Digital Terrain Models)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8404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University of Amsterdam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206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Graduate School of Life and Earth Sciences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5720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Institute for Biodiversity and Ecosystem Dynamics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[1] Cruz &amp; Alexander (2013). Uncertainty associated with model predictions of surface and crown fire rates of spread. Environmental Modelling &amp;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8988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[2] Sullivan (2009). Wildland surface fire spread modelling, 1990-2007. International Journal of Wildland Fire.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82496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[3] Finney (2004). FARSITE: Fire Area Simulator—Model Development and Evaluation. USDA Forest Service Research Paper RMRS-RP-4.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75104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[4] Finney (2006). An overview of FlamMap fire modeling capabilities. In: Andrews, P.L. &amp; Butler, B.W. (Eds.). Fuels Management.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6771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[5] PDAL Contributors (2023). Point Data Abstraction Library (PDAL). https://pdal.io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[6] MacArthur &amp; Horn (1969). Foliage profile by vertical measurements. Ecology.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5292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[7] Campbell &amp; Norman (1998). An Introduction to Environmental Biophysics. Springer.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45536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[8] Rothermel (1972). A mathematical model for predicting fire spread in wildland fuels. USDA Forest Service Research Paper INT-115.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38144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[9] Van Wagner (1977). Conditions for the start and spread of crown fire. Canadian Journal of Forest Research.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307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[10] Albini (1979). Spot fire distance from burning trees—a predictive model. USDA Forest Service Research Paper INT-56.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2336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43434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2855"/>
                </a:solidFill>
              </a:defRPr>
            </a:pPr>
            <a:r>
              <a:t>Data Sources: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6464"/>
                </a:solidFill>
              </a:defRPr>
            </a:pPr>
            <a:r>
              <a:t>• PNOA-IGN: Plan Nacional de Ortofotografía Aérea, Instituto Geográfico Nacional (LiDAR)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98348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6464"/>
                </a:solidFill>
              </a:defRPr>
            </a:pPr>
            <a:r>
              <a:t>• Copernicus EMSR706: Emergency Management Service Rapid Mapping (Fire perimeters)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30352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6464"/>
                </a:solidFill>
              </a:defRPr>
            </a:pPr>
            <a:r>
              <a:t>• IGN España: Instituto Geográfico Nacional España (Digital Terrain Models)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73517" y="1718173"/>
            <a:ext cx="2667782" cy="14465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002855"/>
                </a:solidFill>
              </a:defRPr>
            </a:pPr>
            <a:r>
              <a:rPr dirty="0"/>
              <a:t>Thank You</a:t>
            </a:r>
            <a:br>
              <a:rPr dirty="0"/>
            </a:br>
            <a:r>
              <a:rPr dirty="0"/>
              <a:t>Questions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Repository: github.com/AndreasPaphitis/Forest-Fire-Simulation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Contact: andreas.paphitis@student.uva.nl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</TotalTime>
  <Words>1534</Words>
  <Application>Microsoft Office PowerPoint</Application>
  <PresentationFormat>On-screen Show (4:3)</PresentationFormat>
  <Paragraphs>198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Andreas Paphitis</cp:lastModifiedBy>
  <cp:revision>11</cp:revision>
  <dcterms:created xsi:type="dcterms:W3CDTF">2013-01-27T09:14:16Z</dcterms:created>
  <dcterms:modified xsi:type="dcterms:W3CDTF">2025-11-19T17:01:18Z</dcterms:modified>
  <cp:category/>
</cp:coreProperties>
</file>