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2855"/>
            </a:gs>
            <a:gs pos="100000">
              <a:srgbClr val="143C6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4572000"/>
            <a:ext cx="3657600" cy="365760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High-Resolution Wildfire Modelling:</a:t>
            </a:r>
            <a:br/>
            <a:r>
              <a:t>Integrating LiDAR-Derived 3D Fuel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0F0F0"/>
                </a:solidFill>
              </a:defRPr>
            </a:pPr>
            <a:r>
              <a:t>Master's Thesis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t>Andreas Paphitis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0F0F0"/>
                </a:solidFill>
              </a:defRPr>
            </a:pPr>
            <a:r>
              <a:t>University of Amsterdam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0F0F0"/>
                </a:solidFill>
              </a:defRPr>
            </a:pPr>
            <a:r>
              <a:t>Graduate School of Life and Earth Sciences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0F0F0"/>
                </a:solidFill>
              </a:defRPr>
            </a:pPr>
            <a:r>
              <a:t>November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6400800" y="-457200"/>
            <a:ext cx="3657600" cy="18288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Background &amp; Problem Statement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228600" cy="22860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Climate change: Wildfire seasons extending (+18.7% longer) [Tedim et al., 2018]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228600" cy="2286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Mediterranean: High-risk region for extreme fire behavior [Copernicus EMS]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40280"/>
            <a:ext cx="228600" cy="22860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Current models: Limited by 2D fuel classifications [1,2,3,4]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880360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Opportunity: High-resolution LiDAR data now available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291840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Solution: 3D Cellular Automata with vertical fuel structure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703320"/>
            <a:ext cx="228600" cy="22860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Challenge: Calibration complexity &amp; overfitting risks [6]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45920"/>
            <a:ext cx="256032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7830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+18.7% longer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10312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Fire Season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651760"/>
            <a:ext cx="256032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7889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Tenerife 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10896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Study Area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657600"/>
            <a:ext cx="2560320" cy="82296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79476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20m, 20 layers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11480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Resolution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6400800" y="-457200"/>
            <a:ext cx="3657600" cy="18288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Research Objectives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228600" cy="2286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Research Question 1: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Can LiDAR-derived Plant Area Density (PAD) effectively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4028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represent vertical fuel connectivity in fire spread models?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880360"/>
            <a:ext cx="228600" cy="2286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Research Question 2: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29184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What are the relative contributions of horizontal, vertical,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70332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and ember-mediated spread in 3D fire behavior?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343400"/>
            <a:ext cx="228600" cy="22860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Approach: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75488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09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Systematic two-stage calibration framework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16636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Temporal split-sample validation (Days 1-4)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57784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532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Quantification of spread mode contributions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Study Area &amp; Methodology Overview</a:t>
            </a:r>
          </a:p>
        </p:txBody>
      </p:sp>
      <p:pic>
        <p:nvPicPr>
          <p:cNvPr id="4" name="Picture 3" descr="EMSR_Binary_Masks_4Panel_Acad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389120" cy="35772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0" y="1463040"/>
            <a:ext cx="41148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17373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Study Area: Tenerife, Canary Islands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Fire Event: August 15-26, 2023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Start: Arafo municipality, ~1,000m elevation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Spread: Multi-directional across 12 municipalities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Validation periods: EMSR Days 1-4 (Aug 18, 21, 24, 26)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Methodology: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Data: 5m LiDAR, 5m DTM, EMSR fire perimeters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Model: 3D Cellular Automata (20m resolution)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Calibration: Two-stage framework (sensitivity + grid search)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Validation: Temporal split-sample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6400800" y="-457200"/>
            <a:ext cx="3657600" cy="18288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LiDAR Processing &amp; Model Architecture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228600" cy="2286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LiDAR Processing Pipeline: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Height normalization using PDAL HAG algorithm [5]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4028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Normalized Relative Density (NRD) calculation [6]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5176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PAD derivation via Beer-Lambert law (κ=0.6) [7]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06324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20 vertical layers at 2m intervals (0-40m)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47472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Resampling: 5m → 20m resolution (16× reduction)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114800"/>
            <a:ext cx="228600" cy="22860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3D CA Model Architecture: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52628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Horizontal: Moore neighborhood, slope/wind factors [8]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93776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Vertical: √(fuel_lower × fuel_upper) connectivity [9]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34924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03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Ember: Exponential decay, wind-biased direction [10]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576072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715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Terrain: Barranco wind channeling (2.5× amplification)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6400800" y="-457200"/>
            <a:ext cx="3657600" cy="18288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Model Structure &amp; Computational Optimization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228600" cy="2286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Why Custom 3D CA Model?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2880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1. LiDAR Integration: FARSITE/FlamMap use 2D fuel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4028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   classifications, cannot utilize continuous 3D PAD data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5176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2. Computational Efficiency: Sparse storage enables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06324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   100s of calibration runs (85% memory reduction)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47472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3. Region-Specific: Canary Island pine parameters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88620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   (not North American models, accounts for calima)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526280"/>
            <a:ext cx="228600" cy="22860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Key Optimizations: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93776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Sparse matrix storage: 85% memory reduction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34924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03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Pre-computed terrain: Barranco detection, channeling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576072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715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Resolution: 5m → 20m (16× reduction, preserves patterns)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" y="6172200"/>
            <a:ext cx="228600" cy="22860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6126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Grid: 609×609×20 layers (24.4M cells) efficiently managed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Fire Spread Mechanisms</a:t>
            </a:r>
          </a:p>
        </p:txBody>
      </p:sp>
      <p:pic>
        <p:nvPicPr>
          <p:cNvPr id="4" name="Picture 3" descr="Figure_Fire_Spread_Mode_Pie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389120" cy="22876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0" y="1463040"/>
            <a:ext cx="41148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17373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Three Fire Spread Mechanisms: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Horizontal Spread (Surface Fire):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8-neighbor Moore connectivity (N, NE, E, SE, S, SW, W, NW)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Slope multiplicative factor: exp(0.1·slope_degrees)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Wind multiplier: Higher in wind direction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Barranco channeling: 2.5× amplification in ravines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Vertical Spread (Crown Fire):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Layer-to-layer geometric mean: √(PAD_lower × PAD_upper)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20 vertical layers at 2m intervals (0-40m)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Fuel continuity drives vertical propagation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Ember Transport (Spotting):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Exponential distance decay: exp(-dist/param)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Wind-biased direction kernel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Stochastic ignition probability</a:t>
            </a:r>
          </a:p>
          <a:p>
            <a:pPr>
              <a:spcBef>
                <a:spcPts val="600"/>
              </a:spcBef>
              <a:defRPr sz="1800">
                <a:solidFill>
                  <a:srgbClr val="646464"/>
                </a:solidFill>
              </a:defRPr>
            </a:pPr>
            <a:r>
              <a:t>• Critical for long-distance spread across discontinuities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6400800" y="-457200"/>
            <a:ext cx="3657600" cy="18288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Calibration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931920" cy="51206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Two-Stage Calibration Framework: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Stage 1: Sensitivity Analysis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Range-based analysis: 9 points × 16 parameters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Objective: Modified Dice coefficient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Result: Identified top 4 critical parameters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Stage 2: Grid Search Optimization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7³ = 343 combinations on top parameters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Reduced from 3¹⁶ ≈ 43M to 81 simulations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6 orders of magnitude reduction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Objective: Maximize modified Dice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Coverage metrics: F1, intersection area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Challenge: Overfitting Risk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Temporal splits (calibration vs validation days)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Mechanistic metrics alongside statistical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Trade-off: Physical realism vs empirical fit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Computational Efficiency: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~53 minutes per simulation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Calibration target: EMSR Days 1-2 (Aug 18-21)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Validation target: EMSR Days 3-4 (Aug 24-26)</a:t>
            </a:r>
          </a:p>
        </p:txBody>
      </p:sp>
      <p:pic>
        <p:nvPicPr>
          <p:cNvPr id="7" name="Picture 6" descr="Figure_Calibration_Prior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3840480" cy="30611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6400800" y="-457200"/>
            <a:ext cx="3657600" cy="18288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Sensitivity Analysis Results</a:t>
            </a:r>
          </a:p>
        </p:txBody>
      </p:sp>
      <p:sp>
        <p:nvSpPr>
          <p:cNvPr id="5" name="Oval 4"/>
          <p:cNvSpPr/>
          <p:nvPr/>
        </p:nvSpPr>
        <p:spPr>
          <a:xfrm>
            <a:off x="5943600" y="13716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228600"/>
            <a:ext cx="5486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1.406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840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Top Param</a:t>
            </a:r>
          </a:p>
        </p:txBody>
      </p:sp>
      <p:sp>
        <p:nvSpPr>
          <p:cNvPr id="8" name="Oval 7"/>
          <p:cNvSpPr/>
          <p:nvPr/>
        </p:nvSpPr>
        <p:spPr>
          <a:xfrm>
            <a:off x="6766560" y="137160"/>
            <a:ext cx="548640" cy="54864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8600"/>
            <a:ext cx="5486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0.161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840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2nd Param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0" y="137160"/>
            <a:ext cx="548640" cy="54864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28600"/>
            <a:ext cx="5486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0.172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840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Ember Sum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371600"/>
            <a:ext cx="3931920" cy="51206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55448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Parameter Sensitivity Hierarchy: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Top 5 Most Sensitive Parameters: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1. spread_probability: 1.406 (8.7× more sensitive)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2. fuel_consumption_rate: 0.161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3. ember_probability: 0.116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4. ember_ignition: 0.056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5. fuel_moisture_baseline: 0.038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Key Insights: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spread_probability dominates fire behavior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Ember system parameters collectively significant (0.172)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Clear hierarchy enables focused calibration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Terrain and fuel parameters show secondary importance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Results: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Identified top 4 parameters for grid search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Reduced calibration space by 6 orders of magnitude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Systematic approach to parameter selection</a:t>
            </a:r>
          </a:p>
        </p:txBody>
      </p:sp>
      <p:pic>
        <p:nvPicPr>
          <p:cNvPr id="16" name="Picture 15" descr="Figure_Sensitivity_Parameter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3840480" cy="2200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6400800" y="-457200"/>
            <a:ext cx="3657600" cy="18288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Validation Results</a:t>
            </a:r>
          </a:p>
        </p:txBody>
      </p:sp>
      <p:sp>
        <p:nvSpPr>
          <p:cNvPr id="5" name="Oval 4"/>
          <p:cNvSpPr/>
          <p:nvPr/>
        </p:nvSpPr>
        <p:spPr>
          <a:xfrm>
            <a:off x="5943600" y="13716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228600"/>
            <a:ext cx="5486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0.690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840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Day 3</a:t>
            </a:r>
          </a:p>
        </p:txBody>
      </p:sp>
      <p:sp>
        <p:nvSpPr>
          <p:cNvPr id="8" name="Oval 7"/>
          <p:cNvSpPr/>
          <p:nvPr/>
        </p:nvSpPr>
        <p:spPr>
          <a:xfrm>
            <a:off x="6766560" y="13716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8600"/>
            <a:ext cx="5486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0.486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840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Day 4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0" y="137160"/>
            <a:ext cx="548640" cy="54864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28600"/>
            <a:ext cx="54864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-29.6%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840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371600"/>
            <a:ext cx="3931920" cy="51206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55448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Spatial Performance (Rank 2 Parameters):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Calibration Period: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Days 1-2: Objective function optimized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Validation Period: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Day 3: Objective = 0.690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Day 4: Objective = 0.486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Improvement: 29.6% (Day 3 → Day 4)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Parameter Selection Rationale: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Rank 1: Error 0.513, spread_prob = 0.95 (unrealistic)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Rank 2: Error 0.536, spread_prob = 0.775 (selected)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Trade-off: Slightly higher error for physical realism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Spread Mode Contributions: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Horizontal: 23.7% (expected 40-60%)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Vertical: 3.8% (expected 30-50%)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Ember: 43.0% (expected 10-20%)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Execution Time:</a:t>
            </a:r>
          </a:p>
          <a:p>
            <a:pPr>
              <a:spcBef>
                <a:spcPts val="400"/>
              </a:spcBef>
              <a:defRPr sz="1800">
                <a:solidFill>
                  <a:srgbClr val="646464"/>
                </a:solidFill>
              </a:defRPr>
            </a:pPr>
            <a:r>
              <a:t>• ~53 minutes per simulation (20m resolution)</a:t>
            </a:r>
          </a:p>
        </p:txBody>
      </p:sp>
      <p:pic>
        <p:nvPicPr>
          <p:cNvPr id="16" name="Picture 15" descr="Figure_19_CORRECTED_Spatial_Validation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3840480" cy="16577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Findings &amp;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931920" cy="50292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D32"/>
                </a:solidFill>
              </a:defRPr>
            </a:pPr>
            <a:r>
              <a:t>Achievements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274320" cy="274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Successful LiDAR PAD integration for 3D fuel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274320" cy="274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Systematic calibration framework (43M → 81 simulations)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91840"/>
            <a:ext cx="274320" cy="274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Horizontal spread: 23.7% contribution, 83%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40480"/>
            <a:ext cx="274320" cy="274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Identified critical parameters via sensitivity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389120"/>
            <a:ext cx="274320" cy="2743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389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Framework demonstrates feasibility of approach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1371600"/>
            <a:ext cx="3931920" cy="50292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6459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9800"/>
                </a:solidFill>
              </a:defRPr>
            </a:pPr>
            <a:r>
              <a:t>Challenges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194560"/>
            <a:ext cx="274320" cy="2743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Vertical spread: Only 3.8% (expected 30-50%)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2743200"/>
            <a:ext cx="274320" cy="2743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Ember spread: 43.0% (expected 10-20%)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3291840"/>
            <a:ext cx="274320" cy="2743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Ember efficiency: 150.7% indicates overfitting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3840480"/>
            <a:ext cx="274320" cy="2743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Compensating errors rather than physical accuracy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4389120"/>
            <a:ext cx="274320" cy="2743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4389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Need multi-objective calibration + fuel constraints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6400800" y="-457200"/>
            <a:ext cx="3657600" cy="18288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Conclusions &amp; Future Directions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855"/>
                </a:solidFill>
              </a:defRPr>
            </a:pPr>
            <a:r>
              <a:t>Research Questions Addressed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2880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Q1: LiDAR PAD successfully represents vertical fuel connectivity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4884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     → Framework operational, requires parameter refinement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6888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Q2: Spread modes quantified (H:23.7%, V:3.8%, E:43.0%)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78892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     → Reveals need for improved suppression mechanisms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2900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855"/>
                </a:solidFill>
              </a:defRPr>
            </a:pPr>
            <a:r>
              <a:t>Key Contributions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4048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First LiDAR-derived 3D CA model for Mediterranean wildfires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16052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Systematic two-stage calibration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8056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Computational optimizations: 85% memory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80060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Quantitative assessment of spread mode contributions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39496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44068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855"/>
                </a:solidFill>
              </a:defRPr>
            </a:pPr>
            <a:r>
              <a:t>Future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85216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Multi-objective calibration (spatial + mechanistic constraints)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617220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Fire suppression mechanisms and fuel consumption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649224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Validation against additional fire events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681228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• Integration with weather forecasting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Acknowledgments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2855"/>
                </a:solidFill>
              </a:defRPr>
            </a:pPr>
            <a:r>
              <a:t>Supervisor: dr. A.C. Seijmonsbergen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945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2855"/>
                </a:solidFill>
              </a:defRPr>
            </a:pPr>
            <a:r>
              <a:t>Assessor: dr. Yifang 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5603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2855"/>
                </a:solidFill>
              </a:defRPr>
            </a:pPr>
            <a:r>
              <a:t>Data 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926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• PNOA-IGN (LiDAR point cloud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• Copernicus EMSR (Fire perimeter delineations)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6576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• IGN Spain (Digital Terrain Models)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023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University of Amsterdam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3891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Graduate School of Life and Earth Sciences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754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Institute for Biodiversity and Ecosystem Dynamics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[1] Cruz &amp; Alexander (2013). Uncertainty associated with model predictions of surface and crown fire rates of spread. Environmental Modelling &amp;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813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[2] Sullivan (2009). Wildland surface fire spread modelling, 1990-2007. International Journal of Wildland Fire.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739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[3] Finney (2004). FARSITE: Fire Area Simulator—Model Development and Evaluation. USDA Forest Service Research Paper RMRS-RP-4.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6654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[4] Finney (2006). An overview of FlamMap fire modeling capabilities. In: Andrews, P.L. &amp; Butler, B.W. (Eds.). Fuels Management.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591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[5] PDAL Contributors (2023). Point Data Abstraction Library (PDAL). https://pdal.io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[6] MacArthur &amp; Horn (1969). Foliage profile by vertical measurements. Ecology.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443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[7] Campbell &amp; Norman (1998). An Introduction to Environmental Biophysics. Springer.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3697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[8] Rothermel (1972). A mathematical model for predicting fire spread in wildland fuels. USDA Forest Service Research Paper INT-115.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958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[9] Van Wagner (1977). Conditions for the start and spread of crown fire. Canadian Journal of Forest Research.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221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[10] Albini (1979). Spot fire distance from burning trees—a predictive model. USDA Forest Service Research Paper INT-56.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855"/>
                </a:solidFill>
              </a:defRPr>
            </a:pPr>
            <a:r>
              <a:t>Data Sources: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6464"/>
                </a:solidFill>
              </a:defRPr>
            </a:pPr>
            <a:r>
              <a:t>• PNOA-IGN: Plan Nacional de Ortofotografía Aérea, Instituto Geográfico Nacional (LiDAR)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6464"/>
                </a:solidFill>
              </a:defRPr>
            </a:pPr>
            <a:r>
              <a:t>• Copernicus EMSR706: Emergency Management Service Rapid Mapping (Fire perimeters)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949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6464"/>
                </a:solidFill>
              </a:defRPr>
            </a:pPr>
            <a:r>
              <a:t>• IGN España: Instituto Geográfico Nacional España (Digital Terrain Models)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2855"/>
            </a:gs>
            <a:gs pos="100000">
              <a:srgbClr val="143C69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  <a:br/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0F0F0"/>
                </a:solidFill>
              </a:defRPr>
            </a:pPr>
            <a:r>
              <a:t>Repository: github.com/AndreasPaphitis/Forest-Fire-Simulation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0F0F0"/>
                </a:solidFill>
              </a:defRPr>
            </a:pPr>
            <a:r>
              <a:t>Contact: andreas.paphitis@student.uva.nl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