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03C31"/>
          </a:solidFill>
          <a:ln>
            <a:solidFill>
              <a:srgbClr val="E0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Methodology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914400"/>
            <a:ext cx="4297680" cy="2743200"/>
          </a:xfrm>
          <a:prstGeom prst="rect">
            <a:avLst/>
          </a:prstGeom>
          <a:solidFill>
            <a:srgbClr val="E8F4F8"/>
          </a:solidFill>
          <a:ln w="2540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spcAft>
                <a:spcPts val="1000"/>
              </a:spcAft>
              <a:defRPr sz="2000" b="1">
                <a:solidFill>
                  <a:srgbClr val="00356B"/>
                </a:solidFill>
              </a:defRPr>
            </a:pPr>
            <a:r>
              <a:t>Data &amp; Model</a:t>
            </a:r>
          </a:p>
          <a:p>
            <a:pPr>
              <a:spcAft>
                <a:spcPts val="400"/>
              </a:spcAft>
              <a:defRPr sz="1400" b="1">
                <a:solidFill>
                  <a:srgbClr val="2C2C2C"/>
                </a:solidFill>
              </a:defRPr>
            </a:pPr>
            <a:r>
              <a:t>Data Sources:</a:t>
            </a:r>
          </a:p>
          <a:p>
            <a:pPr>
              <a:spcAft>
                <a:spcPts val="400"/>
              </a:spcAft>
              <a:defRPr sz="1400" b="0">
                <a:solidFill>
                  <a:srgbClr val="2C2C2C"/>
                </a:solidFill>
              </a:defRPr>
            </a:pPr>
            <a:r>
              <a:t>• LiDAR: 5m → PAD (3D fuel structure)</a:t>
            </a:r>
          </a:p>
          <a:p>
            <a:pPr>
              <a:spcAft>
                <a:spcPts val="400"/>
              </a:spcAft>
              <a:defRPr sz="1400" b="0">
                <a:solidFill>
                  <a:srgbClr val="2C2C2C"/>
                </a:solidFill>
              </a:defRPr>
            </a:pPr>
            <a:r>
              <a:t>• Terrain: 5m DTM</a:t>
            </a:r>
          </a:p>
          <a:p>
            <a:pPr>
              <a:spcAft>
                <a:spcPts val="400"/>
              </a:spcAft>
              <a:defRPr sz="1400" b="0">
                <a:solidFill>
                  <a:srgbClr val="2C2C2C"/>
                </a:solidFill>
              </a:defRPr>
            </a:pPr>
            <a:r>
              <a:t>• Fire: EMSR 685 delineations</a:t>
            </a:r>
          </a:p>
          <a:p>
            <a:pPr>
              <a:spcAft>
                <a:spcPts val="400"/>
              </a:spcAft>
              <a:defRPr sz="1400" b="0">
                <a:solidFill>
                  <a:srgbClr val="2C2C2C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2C2C2C"/>
                </a:solidFill>
              </a:defRPr>
            </a:pPr>
            <a:r>
              <a:t>3D CA Model:</a:t>
            </a:r>
          </a:p>
          <a:p>
            <a:pPr>
              <a:spcAft>
                <a:spcPts val="400"/>
              </a:spcAft>
              <a:defRPr sz="1400" b="0">
                <a:solidFill>
                  <a:srgbClr val="2C2C2C"/>
                </a:solidFill>
              </a:defRPr>
            </a:pPr>
            <a:r>
              <a:t>• 20m resolution, 20 layers (0-40m)</a:t>
            </a:r>
          </a:p>
          <a:p>
            <a:pPr>
              <a:spcAft>
                <a:spcPts val="400"/>
              </a:spcAft>
              <a:defRPr sz="1400" b="0">
                <a:solidFill>
                  <a:srgbClr val="2C2C2C"/>
                </a:solidFill>
              </a:defRPr>
            </a:pPr>
            <a:r>
              <a:t>• 3 spread mechanisms:</a:t>
            </a:r>
          </a:p>
          <a:p>
            <a:pPr>
              <a:spcAft>
                <a:spcPts val="400"/>
              </a:spcAft>
              <a:defRPr sz="1400" b="0">
                <a:solidFill>
                  <a:srgbClr val="2C2C2C"/>
                </a:solidFill>
              </a:defRPr>
            </a:pPr>
            <a:r>
              <a:t>  Horizontal, Vertical, 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914400"/>
            <a:ext cx="4114800" cy="27432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spcAft>
                <a:spcPts val="1000"/>
              </a:spcAft>
              <a:defRPr sz="2000" b="1">
                <a:solidFill>
                  <a:srgbClr val="00356B"/>
                </a:solidFill>
              </a:defRPr>
            </a:pPr>
            <a:r>
              <a:t>Objective Function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2C2C2C"/>
                </a:solidFill>
              </a:defRPr>
            </a:pPr>
            <a:r>
              <a:t>Minimize: (1 - Dice) + P</a:t>
            </a:r>
          </a:p>
          <a:p>
            <a:pPr algn="ctr">
              <a:spcAft>
                <a:spcPts val="600"/>
              </a:spcAft>
              <a:defRPr sz="1400">
                <a:solidFill>
                  <a:srgbClr val="2C2C2C"/>
                </a:solidFill>
              </a:defRPr>
            </a:pPr>
            <a:r>
              <a:t>Dice = 2|A∩B| / (|A|+|B|)</a:t>
            </a:r>
          </a:p>
          <a:p>
            <a:pPr algn="ctr">
              <a:spcAft>
                <a:spcPts val="1200"/>
              </a:spcAft>
              <a:defRPr sz="1200">
                <a:solidFill>
                  <a:srgbClr val="2C2C2C"/>
                </a:solidFill>
              </a:defRPr>
            </a:pPr>
            <a:r>
              <a:t>P = 2(r-2)² if r&gt;2, else P=0</a:t>
            </a:r>
          </a:p>
          <a:p>
            <a:pPr>
              <a:spcAft>
                <a:spcPts val="400"/>
              </a:spcAft>
              <a:defRPr sz="1400" b="1">
                <a:solidFill>
                  <a:srgbClr val="2C2C2C"/>
                </a:solidFill>
              </a:defRPr>
            </a:pPr>
            <a:r>
              <a:t>Rationale: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• Balances spatial accuracy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• Prevents unrealistic spread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• Standard in wildfire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840480"/>
            <a:ext cx="4297680" cy="2743200"/>
          </a:xfrm>
          <a:prstGeom prst="rect">
            <a:avLst/>
          </a:prstGeom>
          <a:solidFill>
            <a:srgbClr val="FFF3E0"/>
          </a:solidFill>
          <a:ln w="2540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spcAft>
                <a:spcPts val="1000"/>
              </a:spcAft>
              <a:defRPr sz="2000" b="1">
                <a:solidFill>
                  <a:srgbClr val="00356B"/>
                </a:solidFill>
              </a:defRPr>
            </a:pPr>
            <a:r>
              <a:t>Calibration Framework</a:t>
            </a:r>
          </a:p>
          <a:p>
            <a:pPr>
              <a:spcAft>
                <a:spcPts val="600"/>
              </a:spcAft>
              <a:defRPr sz="1400" b="1">
                <a:solidFill>
                  <a:srgbClr val="2C2C2C"/>
                </a:solidFill>
              </a:defRPr>
            </a:pPr>
            <a:r>
              <a:t>Two-Stage Approach:</a:t>
            </a:r>
          </a:p>
          <a:p>
            <a:pPr>
              <a:spcAft>
                <a:spcPts val="400"/>
              </a:spcAft>
              <a:defRPr sz="1400" b="1">
                <a:solidFill>
                  <a:srgbClr val="F57C00"/>
                </a:solidFill>
              </a:defRPr>
            </a:pPr>
            <a:r>
              <a:t>Stage 1: Sensitivity Analysis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  • 16 parameters tested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  • Range-based screening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  • Top 4 parameters selected</a:t>
            </a:r>
          </a:p>
          <a:p>
            <a:pPr>
              <a:spcAft>
                <a:spcPts val="400"/>
              </a:spcAft>
              <a:defRPr sz="1400" b="1">
                <a:solidFill>
                  <a:srgbClr val="1976D2"/>
                </a:solidFill>
              </a:defRPr>
            </a:pPr>
            <a:r>
              <a:t>Stage 2: Grid Search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  • 3 points × 4 params = 81 runs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  • Modified Dice optimization</a:t>
            </a:r>
          </a:p>
          <a:p>
            <a:pPr>
              <a:spcAft>
                <a:spcPts val="400"/>
              </a:spcAft>
            </a:pPr>
          </a:p>
          <a:p>
            <a:pPr>
              <a:defRPr sz="1200" i="1">
                <a:solidFill>
                  <a:srgbClr val="2C2C2C"/>
                </a:solidFill>
              </a:defRPr>
            </a:pPr>
            <a:r>
              <a:t>Training: Days 1-2 (Aug 18-21)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840480"/>
            <a:ext cx="4114800" cy="2743200"/>
          </a:xfrm>
          <a:prstGeom prst="rect">
            <a:avLst/>
          </a:prstGeom>
          <a:solidFill>
            <a:srgbClr val="F3E5F5"/>
          </a:solidFill>
          <a:ln w="25400">
            <a:solidFill>
              <a:srgbClr val="00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spcAft>
                <a:spcPts val="1000"/>
              </a:spcAft>
              <a:defRPr sz="2000" b="1">
                <a:solidFill>
                  <a:srgbClr val="00356B"/>
                </a:solidFill>
              </a:defRPr>
            </a:pPr>
            <a:r>
              <a:t>Validation</a:t>
            </a:r>
          </a:p>
          <a:p>
            <a:pPr>
              <a:spcAft>
                <a:spcPts val="600"/>
              </a:spcAft>
              <a:defRPr sz="1400" b="1">
                <a:solidFill>
                  <a:srgbClr val="2C2C2C"/>
                </a:solidFill>
              </a:defRPr>
            </a:pPr>
            <a:r>
              <a:t>Out-of-Sample Testing:</a:t>
            </a:r>
          </a:p>
          <a:p>
            <a:pPr>
              <a:spcAft>
                <a:spcPts val="300"/>
              </a:spcAft>
              <a:defRPr sz="1300" b="1">
                <a:solidFill>
                  <a:srgbClr val="2C2C2C"/>
                </a:solidFill>
              </a:defRPr>
            </a:pPr>
            <a:r>
              <a:t>Test Period:</a:t>
            </a:r>
          </a:p>
          <a:p>
            <a:pPr>
              <a:spcAft>
                <a:spcPts val="800"/>
              </a:spcAft>
              <a:defRPr sz="1200">
                <a:solidFill>
                  <a:srgbClr val="2C2C2C"/>
                </a:solidFill>
              </a:defRPr>
            </a:pPr>
            <a:r>
              <a:t>Days 3-4 (Aug 24-26)</a:t>
            </a:r>
          </a:p>
          <a:p>
            <a:pPr>
              <a:spcAft>
                <a:spcPts val="400"/>
              </a:spcAft>
              <a:defRPr sz="1300" b="1">
                <a:solidFill>
                  <a:srgbClr val="2C2C2C"/>
                </a:solidFill>
              </a:defRPr>
            </a:pPr>
            <a:r>
              <a:t>Performance Metrics: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• Day 3: Dice = 0.690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• Day 4: Dice = 0.486</a:t>
            </a:r>
          </a:p>
          <a:p>
            <a:pPr>
              <a:spcAft>
                <a:spcPts val="300"/>
              </a:spcAft>
              <a:defRPr sz="1200">
                <a:solidFill>
                  <a:srgbClr val="2C2C2C"/>
                </a:solidFill>
              </a:defRPr>
            </a:pPr>
            <a:r>
              <a:t>• Improvement: +29.6%</a:t>
            </a:r>
          </a:p>
          <a:p>
            <a:pPr>
              <a:spcAft>
                <a:spcPts val="800"/>
              </a:spcAft>
            </a:pPr>
          </a:p>
          <a:p>
            <a:pPr>
              <a:defRPr sz="1200" i="1">
                <a:solidFill>
                  <a:srgbClr val="2C2C2C"/>
                </a:solidFill>
              </a:defRPr>
            </a:pPr>
            <a:r>
              <a:t>Ensures model generalization</a:t>
            </a:r>
            <a:br/>
            <a:r>
              <a:t>to unseen fire events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