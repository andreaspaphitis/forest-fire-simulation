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2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2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9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2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C2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2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2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2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F2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22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52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82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2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112" y="705171"/>
            <a:ext cx="528600" cy="528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77684" y="344007"/>
            <a:ext cx="1033210" cy="1033210"/>
          </a:xfrm>
          <a:prstGeom prst="ellipse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-276910" y="7292724"/>
            <a:ext cx="905821" cy="905821"/>
          </a:xfrm>
          <a:prstGeom prst="ellipse">
            <a:avLst/>
          </a:prstGeom>
          <a:solidFill>
            <a:srgbClr val="A2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7737" y="7261268"/>
            <a:ext cx="923889" cy="923889"/>
          </a:xfrm>
          <a:prstGeom prst="ellipse">
            <a:avLst/>
          </a:prstGeom>
          <a:solidFill>
            <a:srgbClr val="FFC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0319" y="-445618"/>
            <a:ext cx="533911" cy="533911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9544" y="-138452"/>
            <a:ext cx="1369408" cy="1369408"/>
          </a:xfrm>
          <a:prstGeom prst="ellipse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900000">
            <a:off x="3657600" y="0"/>
            <a:ext cx="5486400" cy="6858000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Integrating High-Resolution LiDAR Data with</a:t>
            </a:r>
            <a:br/>
            <a:r>
              <a:t>Cellular Automata for Wildfire Spread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Development, Calibration, and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 Case Study of the 2023 Tenerife Wildfire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7433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Andreas Paphitis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595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University of Amsterdam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October 2025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-457200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152399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61999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1371600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1981199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2590799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200400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3810000" y="0"/>
            <a:ext cx="9144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44196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50292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5638799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800000">
            <a:off x="62484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800000">
            <a:off x="68580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800000">
            <a:off x="74676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800000">
            <a:off x="8077200" y="0"/>
            <a:ext cx="9144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"/>
            <a:ext cx="6400800" cy="5486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2023 Tenerife Wildfire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12,000 hectares burned across 12 municipalities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Most severe in Canary Islands in 40 years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Over 12,000 residents evacuated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Classified as 'sixth-generation' wildfire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Traditional models failed predictions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Overlooked vertical fire dynamics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855"/>
                </a:solidFill>
              </a:defRPr>
            </a:pPr>
            <a:r>
              <a:t>Underperformed in complex terrain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1463040"/>
            <a:ext cx="2743200" cy="82296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0" y="1371600"/>
            <a:ext cx="2743200" cy="822960"/>
          </a:xfrm>
          <a:prstGeom prst="roundRect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Date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Aug 15-26, 2023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2468880"/>
            <a:ext cx="2743200" cy="82296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43600" y="2377440"/>
            <a:ext cx="2743200" cy="822960"/>
          </a:xfrm>
          <a:prstGeom prst="roundRect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Area Burned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12,000 hectares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3474720"/>
            <a:ext cx="2743200" cy="82296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0" y="3383280"/>
            <a:ext cx="2743200" cy="822960"/>
          </a:xfrm>
          <a:prstGeom prst="roundRect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Classification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6th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99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469900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469900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469900" cy="68580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469900" cy="68580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469900" cy="6858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4699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2855"/>
                </a:solidFill>
              </a:defRPr>
            </a:pPr>
            <a:r>
              <a:t>Research Objectives &amp; Questions</a:t>
            </a:r>
          </a:p>
        </p:txBody>
      </p:sp>
      <p:sp>
        <p:nvSpPr>
          <p:cNvPr id="23" name="Rounded Rectangle 22"/>
          <p:cNvSpPr/>
          <p:nvPr/>
        </p:nvSpPr>
        <p:spPr>
          <a:xfrm rot="21420000">
            <a:off x="1005840" y="1737360"/>
            <a:ext cx="4114800" cy="411480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21420000">
            <a:off x="914400" y="1645920"/>
            <a:ext cx="4114800" cy="4114800"/>
          </a:xfrm>
          <a:prstGeom prst="roundRect">
            <a:avLst/>
          </a:prstGeom>
          <a:solidFill>
            <a:srgbClr val="0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Objective 1: LiDAR Integration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Integrate high-resolution LiDAR data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3D fuel structure via PAD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Question: How effectively can LiDAR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  represent vertical fuel connectivity?</a:t>
            </a:r>
          </a:p>
        </p:txBody>
      </p:sp>
      <p:sp>
        <p:nvSpPr>
          <p:cNvPr id="26" name="Rounded Rectangle 25"/>
          <p:cNvSpPr/>
          <p:nvPr/>
        </p:nvSpPr>
        <p:spPr>
          <a:xfrm rot="180000">
            <a:off x="4206240" y="1737360"/>
            <a:ext cx="4114800" cy="411480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 rot="180000">
            <a:off x="4114800" y="1645920"/>
            <a:ext cx="411480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</a:defRPr>
            </a:pPr>
            <a:r>
              <a:t>Objective 2: Multi-Dimensional Spread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Multiple fire spread mechanisms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Horizontal, vertical, ember transport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• Question: How do spread modes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  contribute in complex terrain?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4526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5486400" cy="6400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Study Area &amp;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Location: Tenerife, Canary Islands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Key Features: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Complex terrain with barrancos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Elevation: Sea level to 2,400m+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Canary Island Pine dominant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Prone to calima (Saharan dust) events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Fire Event: August 15-26, 2023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Start: Arafo, ~1,000m elevation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Multi-directional spread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12 municipalities affected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Data &amp; Methodology: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5m LiDAR, 5m DTM, EMSR perimeters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3D Cellular Automata (20m resolution)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Two-stage calibration framework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Temporal split-sample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9144000" cy="355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9144000" cy="355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"/>
            <a:ext cx="6400800" cy="548640"/>
          </a:xfrm>
          <a:prstGeom prst="roundRect">
            <a:avLst/>
          </a:prstGeom>
          <a:solidFill>
            <a:srgbClr val="0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LiDAR Processing &amp; 3D CA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463040"/>
            <a:ext cx="3931920" cy="48463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1371600"/>
            <a:ext cx="3931920" cy="4846320"/>
          </a:xfrm>
          <a:prstGeom prst="roundRect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LiDAR Pipeline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Height normalization (PDAL HAG)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NRD → PAD (Beer-Lambert, κ=0.6)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20 vertical layers (2m intervals)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Resampling: 5m → 20m (16× reduction)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1463040"/>
            <a:ext cx="3931920" cy="48463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0" y="1371600"/>
            <a:ext cx="3931920" cy="4846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3D CA Architecture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Horizontal: Moore neighborhood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Vertical: Fuel connectivity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Ember: Wind-biased transport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Terrain: Barranco channeling (2.5×)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9144000" cy="355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9144000" cy="355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2855"/>
                </a:solidFill>
              </a:defRPr>
            </a:pPr>
            <a:r>
              <a:t>Why Custom 3D CA Model?</a:t>
            </a:r>
          </a:p>
        </p:txBody>
      </p:sp>
      <p:sp>
        <p:nvSpPr>
          <p:cNvPr id="23" name="Hexagon 22"/>
          <p:cNvSpPr/>
          <p:nvPr/>
        </p:nvSpPr>
        <p:spPr>
          <a:xfrm>
            <a:off x="1371600" y="1828800"/>
            <a:ext cx="1828800" cy="1828800"/>
          </a:xfrm>
          <a:prstGeom prst="hexagon">
            <a:avLst/>
          </a:prstGeom>
          <a:solidFill>
            <a:srgbClr val="004D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37744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40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2855"/>
                </a:solidFill>
              </a:defRPr>
            </a:pPr>
            <a:r>
              <a:t>LiDAR Integration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FARSITE/FlamMap use 2D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Need continuous 3D PAD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Custom model required</a:t>
            </a:r>
          </a:p>
        </p:txBody>
      </p:sp>
      <p:sp>
        <p:nvSpPr>
          <p:cNvPr id="26" name="Hexagon 25"/>
          <p:cNvSpPr/>
          <p:nvPr/>
        </p:nvSpPr>
        <p:spPr>
          <a:xfrm>
            <a:off x="4114800" y="1828800"/>
            <a:ext cx="1828800" cy="1828800"/>
          </a:xfrm>
          <a:prstGeom prst="hexagon">
            <a:avLst/>
          </a:prstGeom>
          <a:solidFill>
            <a:srgbClr val="8E44A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840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2855"/>
                </a:solidFill>
              </a:defRPr>
            </a:pPr>
            <a:r>
              <a:t>Efficiency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85% memory reduction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Enables calibration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100s of simulations</a:t>
            </a:r>
          </a:p>
        </p:txBody>
      </p:sp>
      <p:sp>
        <p:nvSpPr>
          <p:cNvPr id="29" name="Hexagon 28"/>
          <p:cNvSpPr/>
          <p:nvPr/>
        </p:nvSpPr>
        <p:spPr>
          <a:xfrm>
            <a:off x="6858000" y="1828800"/>
            <a:ext cx="1828800" cy="1828800"/>
          </a:xfrm>
          <a:prstGeom prst="hexagon">
            <a:avLst/>
          </a:prstGeom>
          <a:solidFill>
            <a:srgbClr val="BF404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37744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2855"/>
                </a:solidFill>
              </a:defRPr>
            </a:pPr>
            <a:r>
              <a:t>Region-Specific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Canary Island pine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Not N. American models</a:t>
            </a:r>
          </a:p>
          <a:p>
            <a:pPr algn="l">
              <a:spcBef>
                <a:spcPts val="200"/>
              </a:spcBef>
              <a:defRPr sz="1200">
                <a:solidFill>
                  <a:srgbClr val="002855"/>
                </a:solidFill>
              </a:defRPr>
            </a:pPr>
            <a:r>
              <a:t>Accounts for calima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99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469900" cy="68580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469900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469900" cy="68580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469900" cy="68580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469900" cy="68580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469900" cy="6858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469900" cy="68580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4699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469900" cy="68580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469900" cy="685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"/>
            <a:ext cx="7315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Two-Stage Calibration Framework</a:t>
            </a:r>
          </a:p>
        </p:txBody>
      </p:sp>
      <p:sp>
        <p:nvSpPr>
          <p:cNvPr id="24" name="Rounded Rectangle 23"/>
          <p:cNvSpPr/>
          <p:nvPr/>
        </p:nvSpPr>
        <p:spPr>
          <a:xfrm rot="21480000">
            <a:off x="822960" y="1463040"/>
            <a:ext cx="3840480" cy="48463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 rot="21480000">
            <a:off x="731520" y="1371600"/>
            <a:ext cx="3840480" cy="48463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Stage 1: Sensitivity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Range-based analysis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9 points × 16 parameters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Modified Dice coefficient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Result: Top 4 parameters</a:t>
            </a:r>
          </a:p>
        </p:txBody>
      </p:sp>
      <p:sp>
        <p:nvSpPr>
          <p:cNvPr id="27" name="Rounded Rectangle 26"/>
          <p:cNvSpPr/>
          <p:nvPr/>
        </p:nvSpPr>
        <p:spPr>
          <a:xfrm rot="120000">
            <a:off x="4846320" y="1463040"/>
            <a:ext cx="3840480" cy="48463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120000">
            <a:off x="4754880" y="1371600"/>
            <a:ext cx="3840480" cy="4846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Stage 2: Grid Search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3 points × 4 params = 81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Days 1-2 calibration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Days 3-4 validation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3^16→81: 6-order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2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22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2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2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2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2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62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A2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E3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3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3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A3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E3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23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63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A3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E3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3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4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A4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Parameter Sensitivity Hierarchy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1920240"/>
            <a:ext cx="64008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1828800"/>
            <a:ext cx="6400800" cy="640080"/>
          </a:xfrm>
          <a:prstGeom prst="roundRect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1. spread_probability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1.406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2834640"/>
            <a:ext cx="64008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71600" y="2743200"/>
            <a:ext cx="6400800" cy="640080"/>
          </a:xfrm>
          <a:prstGeom prst="round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2880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855"/>
                </a:solidFill>
              </a:defRPr>
            </a:pPr>
            <a:r>
              <a:t>2. fuel_consumption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2834640"/>
            <a:ext cx="457200" cy="4572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834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0.161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3040" y="3749040"/>
            <a:ext cx="64008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71600" y="3657600"/>
            <a:ext cx="6400800" cy="640080"/>
          </a:xfrm>
          <a:prstGeom prst="round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3794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855"/>
                </a:solidFill>
              </a:defRPr>
            </a:pPr>
            <a:r>
              <a:t>3. ember_probability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3749040"/>
            <a:ext cx="457200" cy="4572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49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63040" y="4663440"/>
            <a:ext cx="64008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71600" y="4572000"/>
            <a:ext cx="6400800" cy="640080"/>
          </a:xfrm>
          <a:prstGeom prst="round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4709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855"/>
                </a:solidFill>
              </a:defRPr>
            </a:pPr>
            <a:r>
              <a:t>4. ember_ignition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0" y="4663440"/>
            <a:ext cx="457200" cy="4572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0.056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5577840"/>
            <a:ext cx="64008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71600" y="5486400"/>
            <a:ext cx="6400800" cy="640080"/>
          </a:xfrm>
          <a:prstGeom prst="round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623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855"/>
                </a:solidFill>
              </a:defRPr>
            </a:pPr>
            <a:r>
              <a:t>5. fuel_moisture</a:t>
            </a:r>
          </a:p>
        </p:txBody>
      </p:sp>
      <p:sp>
        <p:nvSpPr>
          <p:cNvPr id="46" name="Oval 45"/>
          <p:cNvSpPr/>
          <p:nvPr/>
        </p:nvSpPr>
        <p:spPr>
          <a:xfrm>
            <a:off x="6583680" y="5577840"/>
            <a:ext cx="457200" cy="4572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577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0.038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9900" cy="6858000"/>
          </a:xfrm>
          <a:prstGeom prst="rect">
            <a:avLst/>
          </a:prstGeom>
          <a:solidFill>
            <a:srgbClr val="F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469900" cy="6858000"/>
          </a:xfrm>
          <a:prstGeom prst="rect">
            <a:avLst/>
          </a:prstGeom>
          <a:solidFill>
            <a:srgbClr val="F4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69900" cy="6858000"/>
          </a:xfrm>
          <a:prstGeom prst="rect">
            <a:avLst/>
          </a:prstGeom>
          <a:solidFill>
            <a:srgbClr val="EA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469900" cy="6858000"/>
          </a:xfrm>
          <a:prstGeom prst="rect">
            <a:avLst/>
          </a:prstGeom>
          <a:solidFill>
            <a:srgbClr val="DF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469900" cy="6858000"/>
          </a:xfrm>
          <a:prstGeom prst="rect">
            <a:avLst/>
          </a:prstGeom>
          <a:solidFill>
            <a:srgbClr val="D5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469900" cy="6858000"/>
          </a:xfrm>
          <a:prstGeom prst="rect">
            <a:avLst/>
          </a:prstGeom>
          <a:solidFill>
            <a:srgbClr val="CA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469900" cy="6858000"/>
          </a:xfrm>
          <a:prstGeom prst="rect">
            <a:avLst/>
          </a:prstGeom>
          <a:solidFill>
            <a:srgbClr val="C0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469900" cy="6858000"/>
          </a:xfrm>
          <a:prstGeom prst="rect">
            <a:avLst/>
          </a:prstGeom>
          <a:solidFill>
            <a:srgbClr val="B5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469900" cy="6858000"/>
          </a:xfrm>
          <a:prstGeom prst="rect">
            <a:avLst/>
          </a:prstGeom>
          <a:solidFill>
            <a:srgbClr val="A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469900" cy="6858000"/>
          </a:xfrm>
          <a:prstGeom prst="rect">
            <a:avLst/>
          </a:prstGeom>
          <a:solidFill>
            <a:srgbClr val="A0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469900" cy="6858000"/>
          </a:xfrm>
          <a:prstGeom prst="rect">
            <a:avLst/>
          </a:prstGeom>
          <a:solidFill>
            <a:srgbClr val="968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469900" cy="6858000"/>
          </a:xfrm>
          <a:prstGeom prst="rect">
            <a:avLst/>
          </a:prstGeom>
          <a:solidFill>
            <a:srgbClr val="8C8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469900" cy="6858000"/>
          </a:xfrm>
          <a:prstGeom prst="rect">
            <a:avLst/>
          </a:prstGeom>
          <a:solidFill>
            <a:srgbClr val="818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469900" cy="6858000"/>
          </a:xfrm>
          <a:prstGeom prst="rect">
            <a:avLst/>
          </a:prstGeom>
          <a:solidFill>
            <a:srgbClr val="778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469900" cy="6858000"/>
          </a:xfrm>
          <a:prstGeom prst="rect">
            <a:avLst/>
          </a:prstGeom>
          <a:solidFill>
            <a:srgbClr val="6C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469900" cy="6858000"/>
          </a:xfrm>
          <a:prstGeom prst="rect">
            <a:avLst/>
          </a:prstGeom>
          <a:solidFill>
            <a:srgbClr val="628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469900" cy="6858000"/>
          </a:xfrm>
          <a:prstGeom prst="rect">
            <a:avLst/>
          </a:prstGeom>
          <a:solidFill>
            <a:srgbClr val="577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469900" cy="6858000"/>
          </a:xfrm>
          <a:prstGeom prst="rect">
            <a:avLst/>
          </a:prstGeom>
          <a:solidFill>
            <a:srgbClr val="4D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469900" cy="6858000"/>
          </a:xfrm>
          <a:prstGeom prst="rect">
            <a:avLst/>
          </a:prstGeom>
          <a:solidFill>
            <a:srgbClr val="427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469900" cy="6858000"/>
          </a:xfrm>
          <a:prstGeom prst="rect">
            <a:avLst/>
          </a:prstGeom>
          <a:solidFill>
            <a:srgbClr val="38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365760"/>
            <a:ext cx="54864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57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25" name="Rounded Rectangle 24"/>
          <p:cNvSpPr/>
          <p:nvPr/>
        </p:nvSpPr>
        <p:spPr>
          <a:xfrm rot="21420000">
            <a:off x="1005840" y="1737360"/>
            <a:ext cx="3474720" cy="43891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21420000">
            <a:off x="914400" y="1645920"/>
            <a:ext cx="3474720" cy="43891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2011680"/>
            <a:ext cx="29260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0"/>
              </a:spcAft>
              <a:defRPr sz="3200" b="1">
                <a:solidFill>
                  <a:srgbClr val="FFFFFF"/>
                </a:solidFill>
              </a:defRPr>
            </a:pPr>
            <a:r>
              <a:t>Day 3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Objective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0.690</a:t>
            </a:r>
          </a:p>
        </p:txBody>
      </p:sp>
      <p:sp>
        <p:nvSpPr>
          <p:cNvPr id="28" name="Rounded Rectangle 27"/>
          <p:cNvSpPr/>
          <p:nvPr/>
        </p:nvSpPr>
        <p:spPr>
          <a:xfrm rot="180000">
            <a:off x="4846320" y="1737360"/>
            <a:ext cx="3474720" cy="438912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 rot="180000">
            <a:off x="4754880" y="1645920"/>
            <a:ext cx="3474720" cy="43891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011680"/>
            <a:ext cx="29260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500"/>
              </a:spcAft>
              <a:defRPr sz="3200" b="1">
                <a:solidFill>
                  <a:srgbClr val="FFFFFF"/>
                </a:solidFill>
              </a:defRPr>
            </a:pPr>
            <a:r>
              <a:t>Day 4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Objective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0.486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(-29.6%)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0"/>
            <a:ext cx="91440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97365" y="685800"/>
            <a:ext cx="91440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52270" y="1371600"/>
            <a:ext cx="91440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54565" y="2057400"/>
            <a:ext cx="91440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84446" y="2743200"/>
            <a:ext cx="91440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3429000"/>
            <a:ext cx="91440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4446" y="4114800"/>
            <a:ext cx="91440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4565" y="4800600"/>
            <a:ext cx="91440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52270" y="5486400"/>
            <a:ext cx="91440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97365" y="6172200"/>
            <a:ext cx="91440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65760"/>
            <a:ext cx="54864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57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Key Findings &amp;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855"/>
                </a:solidFill>
              </a:defRPr>
            </a:pPr>
            <a:r>
              <a:t>✓ Achievements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173736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Successful LiDAR PAD integration for 3D fuel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Systematic calibration (43M → 81 simulations)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Horizontal spread: 23.7%, 83% efficiency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338328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832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Critical parameters identified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393192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Framework feasibility demonstrated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855"/>
                </a:solidFill>
              </a:defRPr>
            </a:pPr>
            <a:r>
              <a:t>⚠ Challenges</a:t>
            </a:r>
          </a:p>
        </p:txBody>
      </p:sp>
      <p:sp>
        <p:nvSpPr>
          <p:cNvPr id="35" name="Oval 34"/>
          <p:cNvSpPr/>
          <p:nvPr/>
        </p:nvSpPr>
        <p:spPr>
          <a:xfrm>
            <a:off x="5212080" y="173736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17373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Vertical spread: Only 3.8% (expected 30-50%)</a:t>
            </a:r>
          </a:p>
        </p:txBody>
      </p:sp>
      <p:sp>
        <p:nvSpPr>
          <p:cNvPr id="38" name="Oval 37"/>
          <p:cNvSpPr/>
          <p:nvPr/>
        </p:nvSpPr>
        <p:spPr>
          <a:xfrm>
            <a:off x="5212080" y="228600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286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Ember spread: 43.0% (expected 10-20%)</a:t>
            </a:r>
          </a:p>
        </p:txBody>
      </p:sp>
      <p:sp>
        <p:nvSpPr>
          <p:cNvPr id="41" name="Oval 40"/>
          <p:cNvSpPr/>
          <p:nvPr/>
        </p:nvSpPr>
        <p:spPr>
          <a:xfrm>
            <a:off x="5212080" y="283464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28346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Ember efficiency: 150.7% indicates overfitting</a:t>
            </a:r>
          </a:p>
        </p:txBody>
      </p:sp>
      <p:sp>
        <p:nvSpPr>
          <p:cNvPr id="44" name="Oval 43"/>
          <p:cNvSpPr/>
          <p:nvPr/>
        </p:nvSpPr>
        <p:spPr>
          <a:xfrm>
            <a:off x="5212080" y="338328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3832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Compensating errors vs physical accuracy</a:t>
            </a:r>
          </a:p>
        </p:txBody>
      </p:sp>
      <p:sp>
        <p:nvSpPr>
          <p:cNvPr id="47" name="Oval 46"/>
          <p:cNvSpPr/>
          <p:nvPr/>
        </p:nvSpPr>
        <p:spPr>
          <a:xfrm>
            <a:off x="5212080" y="3931920"/>
            <a:ext cx="274320" cy="27432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3931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2855"/>
                </a:solidFill>
              </a:defRPr>
            </a:pPr>
            <a:r>
              <a:t>Need multi-objective calibration +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9144000" cy="355600"/>
          </a:xfrm>
          <a:prstGeom prst="rect">
            <a:avLst/>
          </a:prstGeom>
          <a:solidFill>
            <a:srgbClr val="074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355600"/>
          </a:xfrm>
          <a:prstGeom prst="rect">
            <a:avLst/>
          </a:prstGeom>
          <a:solidFill>
            <a:srgbClr val="0E4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9144000" cy="355600"/>
          </a:xfrm>
          <a:prstGeom prst="rect">
            <a:avLst/>
          </a:prstGeom>
          <a:solidFill>
            <a:srgbClr val="15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9144000" cy="355600"/>
          </a:xfrm>
          <a:prstGeom prst="rect">
            <a:avLst/>
          </a:prstGeom>
          <a:solidFill>
            <a:srgbClr val="1C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9144000" cy="355600"/>
          </a:xfrm>
          <a:prstGeom prst="rect">
            <a:avLst/>
          </a:prstGeom>
          <a:solidFill>
            <a:srgbClr val="23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9144000" cy="355600"/>
          </a:xfrm>
          <a:prstGeom prst="rect">
            <a:avLst/>
          </a:prstGeom>
          <a:solidFill>
            <a:srgbClr val="2A4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9144000" cy="355600"/>
          </a:xfrm>
          <a:prstGeom prst="rect">
            <a:avLst/>
          </a:prstGeom>
          <a:solidFill>
            <a:srgbClr val="314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9144000" cy="355600"/>
          </a:xfrm>
          <a:prstGeom prst="rect">
            <a:avLst/>
          </a:prstGeom>
          <a:solidFill>
            <a:srgbClr val="384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9144000" cy="355600"/>
          </a:xfrm>
          <a:prstGeom prst="rect">
            <a:avLst/>
          </a:prstGeom>
          <a:solidFill>
            <a:srgbClr val="3F4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9144000" cy="355600"/>
          </a:xfrm>
          <a:prstGeom prst="rect">
            <a:avLst/>
          </a:prstGeom>
          <a:solidFill>
            <a:srgbClr val="474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9144000" cy="355600"/>
          </a:xfrm>
          <a:prstGeom prst="rect">
            <a:avLst/>
          </a:prstGeom>
          <a:solidFill>
            <a:srgbClr val="4E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9144000" cy="355600"/>
          </a:xfrm>
          <a:prstGeom prst="rect">
            <a:avLst/>
          </a:prstGeom>
          <a:solidFill>
            <a:srgbClr val="554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9144000" cy="355600"/>
          </a:xfrm>
          <a:prstGeom prst="rect">
            <a:avLst/>
          </a:prstGeom>
          <a:solidFill>
            <a:srgbClr val="5C4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55600"/>
          </a:xfrm>
          <a:prstGeom prst="rect">
            <a:avLst/>
          </a:prstGeom>
          <a:solidFill>
            <a:srgbClr val="634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9144000" cy="355600"/>
          </a:xfrm>
          <a:prstGeom prst="rect">
            <a:avLst/>
          </a:prstGeom>
          <a:solidFill>
            <a:srgbClr val="6A4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9144000" cy="355600"/>
          </a:xfrm>
          <a:prstGeom prst="rect">
            <a:avLst/>
          </a:prstGeom>
          <a:solidFill>
            <a:srgbClr val="714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9144000" cy="355600"/>
          </a:xfrm>
          <a:prstGeom prst="rect">
            <a:avLst/>
          </a:prstGeom>
          <a:solidFill>
            <a:srgbClr val="784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9144000" cy="355600"/>
          </a:xfrm>
          <a:prstGeom prst="rect">
            <a:avLst/>
          </a:prstGeom>
          <a:solidFill>
            <a:srgbClr val="7F4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9144000" cy="355600"/>
          </a:xfrm>
          <a:prstGeom prst="rect">
            <a:avLst/>
          </a:prstGeom>
          <a:solidFill>
            <a:srgbClr val="864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1188720"/>
            <a:ext cx="7772400" cy="137160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1097280"/>
            <a:ext cx="7772400" cy="1371600"/>
          </a:xfrm>
          <a:prstGeom prst="round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1280160"/>
            <a:ext cx="7223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1. Research Questions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Q1: LiDAR PAD successfully represents connectivity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Q2: Spread modes quantified (H:23.7%, V:3.8%, E:43.0%)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154680"/>
            <a:ext cx="7589520" cy="137160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3063240"/>
            <a:ext cx="7589520" cy="1371600"/>
          </a:xfrm>
          <a:prstGeom prst="roundRect">
            <a:avLst/>
          </a:prstGeom>
          <a:solidFill>
            <a:srgbClr val="00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46120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2. Contributions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First 3D CA with continuous LiDAR PAD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Systematic two-stage calibration framework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Honest validation revealing challenges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120640"/>
            <a:ext cx="7406640" cy="137160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029200"/>
            <a:ext cx="740664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120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3. Future Work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Multi-objective calibration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Fire suppression mechanisms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• Validation on additional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9144000" cy="355600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9144000" cy="355600"/>
          </a:xfrm>
          <a:prstGeom prst="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9144000" cy="355600"/>
          </a:xfrm>
          <a:prstGeom prst="rect">
            <a:avLst/>
          </a:prstGeom>
          <a:solidFill>
            <a:srgbClr val="F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9144000" cy="355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9144000" cy="355600"/>
          </a:xfrm>
          <a:prstGeom prst="rect">
            <a:avLst/>
          </a:prstGeom>
          <a:solidFill>
            <a:srgbClr val="F7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9144000" cy="3556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9144000" cy="355600"/>
          </a:xfrm>
          <a:prstGeom prst="rect">
            <a:avLst/>
          </a:prstGeom>
          <a:solidFill>
            <a:srgbClr val="F6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9144000" cy="3556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-327756" y="129616"/>
            <a:ext cx="1156904" cy="115690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58838" y="-31051"/>
            <a:ext cx="690285" cy="690285"/>
          </a:xfrm>
          <a:prstGeom prst="ellipse">
            <a:avLst/>
          </a:prstGeom>
          <a:solidFill>
            <a:srgbClr val="48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4576" y="6683092"/>
            <a:ext cx="792369" cy="792369"/>
          </a:xfrm>
          <a:prstGeom prst="ellipse">
            <a:avLst/>
          </a:prstGeom>
          <a:solidFill>
            <a:srgbClr val="A2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19581" y="7088114"/>
            <a:ext cx="485110" cy="485110"/>
          </a:xfrm>
          <a:prstGeom prst="ellipse">
            <a:avLst/>
          </a:prstGeom>
          <a:solidFill>
            <a:srgbClr val="FFC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137160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2855"/>
                </a:solidFill>
              </a:defRPr>
            </a:pPr>
            <a:r>
              <a:t>Acknowledgments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743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108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703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2855"/>
                </a:solidFill>
              </a:defRPr>
            </a:pPr>
            <a:r>
              <a:t>PNOA-IGN • Copernicus EMSR • IGN Spain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University of Amsterdam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29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2855"/>
                </a:solidFill>
              </a:defRPr>
            </a:pPr>
            <a:r>
              <a:t>Graduate School of Life and Earth Sciences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60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AC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A3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9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0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3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C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31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91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0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C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t>Questions &amp; Discussion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572000"/>
            <a:ext cx="4572000" cy="1371600"/>
          </a:xfrm>
          <a:prstGeom prst="round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8463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855"/>
                </a:solidFill>
              </a:defRPr>
            </a:pPr>
            <a:r>
              <a:t>Repository:</a:t>
            </a:r>
          </a:p>
          <a:p>
            <a:pPr algn="ctr">
              <a:spcBef>
                <a:spcPts val="600"/>
              </a:spcBef>
              <a:defRPr sz="1400">
                <a:solidFill>
                  <a:srgbClr val="002855"/>
                </a:solidFill>
              </a:defRPr>
            </a:pPr>
            <a:r>
              <a:t>github.com/AndreasPaphitis/Forest-Fire-Simulation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002855"/>
                </a:solidFill>
              </a:defRPr>
            </a:pPr>
            <a:r>
              <a:t>andreas.paphitis@student.uva.nl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