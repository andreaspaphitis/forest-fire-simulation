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2855"/>
            </a:gs>
            <a:gs pos="100000">
              <a:srgbClr val="143C6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4572000"/>
            <a:ext cx="3657600" cy="36576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High-Resolution Wildfire Modelling:</a:t>
            </a:r>
            <a:br/>
            <a:r>
              <a:t>Integrating LiDAR-Derived 3D Fuel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0F0F0"/>
                </a:solidFill>
              </a:defRPr>
            </a:pPr>
            <a:r>
              <a:t>Master's Thesis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Andreas Paphitis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0F0F0"/>
                </a:solidFill>
              </a:defRPr>
            </a:pPr>
            <a:r>
              <a:t>University of Amsterdam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0F0F0"/>
                </a:solidFill>
              </a:defRPr>
            </a:pPr>
            <a:r>
              <a:t>Graduate School of Life and Earth Sciences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0F0F0"/>
                </a:solidFill>
              </a:defRPr>
            </a:pPr>
            <a:r>
              <a:t>November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Background &amp; Problem Statement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228600" cy="2286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Climate change: Wildfire seasons extending (+18.7% longer)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228600" cy="228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Mediterranean: High-risk region for extreme fire behavior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40280"/>
            <a:ext cx="228600" cy="22860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Current models: Limited by 2D fuel classifications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80360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Opportunity: High-resolution LiDAR data now available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91840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Solution: 3D Cellular Automata with vertical fuel structure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03320"/>
            <a:ext cx="228600" cy="2286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Challenge: Calibration complexity &amp; overfitting risks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45920"/>
            <a:ext cx="256032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830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+18.7% longer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Fire Season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651760"/>
            <a:ext cx="256032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7889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Tenerife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1089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Study Area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657600"/>
            <a:ext cx="256032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79476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20m, 20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1148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Research 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228600" cy="228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Research Question 1: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Can LiDAR-derived Plant Area Density (PAD) effectively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4028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represent vertical fuel connectivity in fire spread models?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80360"/>
            <a:ext cx="228600" cy="228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Research Question 2: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9184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What are the relative contributions of horizontal, vertical,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0332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and ember-mediated spread in 3D fire behavior?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343400"/>
            <a:ext cx="228600" cy="22860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Approach: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75488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Systematic two-stage calibration framework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16636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Temporal split-sample validation (Days 1-4)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57784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32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Quantification of spread mode contributions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Study Area &amp; Methodology Overview</a:t>
            </a:r>
          </a:p>
        </p:txBody>
      </p:sp>
      <p:pic>
        <p:nvPicPr>
          <p:cNvPr id="4" name="Picture 3" descr="EMSR_Binary_Masks_4Panel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389120" cy="35772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0" y="1463040"/>
            <a:ext cx="4114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Study Area: Tenerife, Canary Islands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Fire Event: August 15-26, 2023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Start: Arafo municipality, ~1,000m elevation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Spread: Multi-directional across 12 municipalities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Validation periods: EMSR Days 1-4 (Aug 18, 21, 24, 26)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Methodology: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Data: 5m LiDAR, 5m DTM, EMSR fire perimeters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Model: 3D Cellular Automata (20m resolution)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Calibration: Two-stage framework (sensitivity + grid search)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Validation: Temporal split-sample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LiDAR Processing &amp; Model 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228600" cy="228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LiDAR Processing Pipeline: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Height normalization using PDAL HAG algorithm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4028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Normalized Relative Density (NRD) calculation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5176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PAD derivation via Beer-Lambert law (κ=0.6)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06324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20 vertical layers at 2m intervals (0-40m)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7472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Resampling: 5m → 20m resolution (16× reduction)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114800"/>
            <a:ext cx="228600" cy="22860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3D CA Model Architecture: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52628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Horizontal: Moore neighborhood, slope/wind factors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3776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Vertical: √(fuel_lower × fuel_upper) connectivity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34924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Ember: Exponential decay, wind-biased direction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76072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15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Terrain: Barranco wind channeling (2.5× amplification)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Model Structure &amp; Computational Optimization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228600" cy="228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Why Custom 3D CA Model?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1. LiDAR Integration: FARSITE/FlamMap use 2D fuel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4028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classifications, cannot utilize continuous 3D PAD data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5176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2. Computational Efficiency: Sparse storage enables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06324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100s of calibration runs (85% memory reduction)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7472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3. Region-Specific: Canary Island pine parameters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88620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(not North American models, accounts for calima)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526280"/>
            <a:ext cx="228600" cy="22860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Key Optimizations: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3776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Sparse matrix storage: 85% memory reduction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34924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Pre-computed terrain: Barranco detection, channeling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76072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15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Resolution: 5m → 20m (16× reduction, preserves patterns)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617220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6126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Grid: 609×609×20 layers (24.4M cells) efficiently managed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Fire Spread Mechanisms</a:t>
            </a:r>
          </a:p>
        </p:txBody>
      </p:sp>
      <p:pic>
        <p:nvPicPr>
          <p:cNvPr id="4" name="Picture 3" descr="Figure_Fire_Spread_Mode_Pie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389120" cy="22876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0" y="1463040"/>
            <a:ext cx="4114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Three Fire Spread Mechanisms: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Horizontal Spread (Surface Fire):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8-neighbor Moore connectivity (N, NE, E, SE, S, SW, W, NW)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Slope multiplicative factor: exp(0.1·slope_degrees)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Wind multiplier: Higher in wind direction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Barranco channeling: 2.5× amplification in ravines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Vertical Spread (Crown Fire):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Layer-to-layer geometric mean: √(PAD_lower × PAD_upper)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20 vertical layers at 2m intervals (0-40m)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Fuel continuity drives vertical propagation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Ember Transport (Spotting):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Exponential distance decay: exp(-dist/param)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Wind-biased direction kernel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Stochastic ignition probability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Critical for long-distance spread across discontinuities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Calibration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931920" cy="5120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Two-Stage Calibration Framework: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Stage 1: Sensitivity Analysis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Range-based analysis: 9 points × 16 parameters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Objective: Modified Dice coefficient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Result: Identified top 4 critical parameters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Stage 2: Grid Search Optimization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7³ = 343 combinations on top parameters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Reduced from 3¹⁶ ≈ 43M to 81 simulations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6 orders of magnitude reduction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Objective: Maximize modified Dice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Coverage metrics: F1, intersection area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Challenge: Overfitting Risk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Temporal splits (calibration vs validation days)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Mechanistic metrics alongside statistical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Trade-off: Physical realism vs empirical fit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Computational Efficiency: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~53 minutes per simulation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Calibration target: EMSR Days 1-2 (Aug 18-21)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Validation target: EMSR Days 3-4 (Aug 24-26)</a:t>
            </a:r>
          </a:p>
        </p:txBody>
      </p:sp>
      <p:pic>
        <p:nvPicPr>
          <p:cNvPr id="7" name="Picture 6" descr="Figure_Calibration_Prio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3840480" cy="30611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Sensitivity Analysis Results</a:t>
            </a:r>
          </a:p>
        </p:txBody>
      </p:sp>
      <p:sp>
        <p:nvSpPr>
          <p:cNvPr id="5" name="Oval 4"/>
          <p:cNvSpPr/>
          <p:nvPr/>
        </p:nvSpPr>
        <p:spPr>
          <a:xfrm>
            <a:off x="5943600" y="13716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228600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1.406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840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Top Param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137160"/>
            <a:ext cx="548640" cy="54864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8600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840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2nd Param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0" y="137160"/>
            <a:ext cx="548640" cy="54864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28600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0.172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840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Ember Sum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371600"/>
            <a:ext cx="3931920" cy="5120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Parameter Sensitivity Hierarchy: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Top 5 Most Sensitive Parameters: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1. spread_probability: 1.406 (8.7× more sensitive)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2. fuel_consumption_rate: 0.161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3. ember_probability: 0.116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4. ember_ignition: 0.056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5. fuel_moisture_baseline: 0.038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Key Insights: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spread_probability dominates fire behavior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Ember system parameters collectively significant (0.172)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Clear hierarchy enables focused calibration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Terrain and fuel parameters show secondary importance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Results: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Identified top 4 parameters for grid search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Reduced calibration space by 6 orders of magnitude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Systematic approach to parameter selection</a:t>
            </a:r>
          </a:p>
        </p:txBody>
      </p:sp>
      <p:pic>
        <p:nvPicPr>
          <p:cNvPr id="16" name="Picture 15" descr="Figure_Sensitivity_Parameter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3840480" cy="2200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Validation Results</a:t>
            </a:r>
          </a:p>
        </p:txBody>
      </p:sp>
      <p:sp>
        <p:nvSpPr>
          <p:cNvPr id="5" name="Oval 4"/>
          <p:cNvSpPr/>
          <p:nvPr/>
        </p:nvSpPr>
        <p:spPr>
          <a:xfrm>
            <a:off x="5943600" y="1371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228600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0.690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840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Day 3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13716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8600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0.486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840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Day 4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0" y="137160"/>
            <a:ext cx="548640" cy="54864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28600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-29.6%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840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371600"/>
            <a:ext cx="3931920" cy="5120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Spatial Performance (Rank 2 Parameters):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Calibration Period: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Days 1-2: Objective function optimized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Validation Period: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Day 3: Objective = 0.690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Day 4: Objective = 0.486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Improvement: 29.6% (Day 3 → Day 4)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Parameter Selection Rationale: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Rank 1: Error 0.513, spread_prob = 0.95 (unrealistic)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Rank 2: Error 0.536, spread_prob = 0.775 (selected)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Trade-off: Slightly higher error for physical realism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Spread Mode Contributions: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Horizontal: 23.7% (expected 40-60%)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Vertical: 3.8% (expected 30-50%)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Ember: 43.0% (expected 10-20%)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Execution Time: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~53 minutes per simulation (20m resolution)</a:t>
            </a:r>
          </a:p>
        </p:txBody>
      </p:sp>
      <p:pic>
        <p:nvPicPr>
          <p:cNvPr id="16" name="Picture 15" descr="Figure_19_CORRECTED_Spatial_Validat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3840480" cy="16577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Findings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931920" cy="50292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Achievements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Successful LiDAR PAD integration for 3D fuel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Systematic calibration framework (43M → 81 simulations)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Horizontal spread: 23.7% contribution, 83%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40480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Identified critical parameters via sensitivity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89120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Framework demonstrates feasibility of approach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371600"/>
            <a:ext cx="3931920" cy="50292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6459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9800"/>
                </a:solidFill>
              </a:defRPr>
            </a:pPr>
            <a:r>
              <a:t>Challenges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194560"/>
            <a:ext cx="27432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Vertical spread: Only 3.8% (expected 30-50%)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743200"/>
            <a:ext cx="27432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Ember spread: 43.0% (expected 10-20%)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3291840"/>
            <a:ext cx="27432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Ember efficiency: 150.7% indicates overfitting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3840480"/>
            <a:ext cx="27432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Compensating errors rather than physical accuracy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4389120"/>
            <a:ext cx="27432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Need multi-objective calibration + fuel constraints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Conclusions &amp; Future Directions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Research Questions Addressed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Q1: LiDAR PAD successfully represents vertical fuel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  → Framework operational, requires parameter refinement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6888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Q2: Spread modes quantified (H:23.7%, V:3.8%, E:43.0%)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8892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  → Reveals need for improved suppression mechanisms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2900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Key Contributions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4048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First LiDAR-derived 3D CA model for Mediterranean wildfires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6052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Systematic two-stage calibration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8056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Computational optimizations: 85% memory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0060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Quantitative assessment of spread mode contributions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39496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4068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85216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Multi-objective calibration (spatial + mechanistic constraints)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617220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Fire suppression mechanisms and fuel consumption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4922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Validation against additional fire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681228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Integration with weather forecasting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Supervisor: dr. A.C. Seijmonsbergen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Assessor: dr. Yifang 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Data 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PNOA-IGN (LiDAR point cloud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Copernicus EMSR (Fire perimeter delineations)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IGN Spain (Digital Terrain Models)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023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University of Amsterdam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891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Graduate School of Life and Earth Sciences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754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Institute for Biodiversity and Ecosystem Dynamics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2855"/>
            </a:gs>
            <a:gs pos="100000">
              <a:srgbClr val="143C6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  <a:br/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Repository: github.com/AndreasPaphitis/Forest-Fire-Simulation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Contact: andreas.paphitis@student.uva.nl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